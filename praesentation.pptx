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0:30 (bis 0:30)
Guten Tag, geschätzte Lehrpersonen und Mitschülerinnen und Mitschüler. Wir sind die Gruppe 4 und stellen Ihnen heute Flux vor, unsere Software zur Visualisierung von sdat- und ESL-Zählerdaten für die Energieagentur Bünzli. Die Präsentation dauert 15 Minuten, darin enthalten ist eine Live-Demo von rund vier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0:20 (bis 0:50)
Wir folgen in der Präsentation den IPERKA-Phasen, genau wie im Projekt und in der Dokumentation. Nach Auftrag und Team zeigen wir Planung und Entscheide, dann die Umsetzung mit Live-Demo und zum Schluss Tests und Reflexion. Unten auf jeder Folie sehen Sie, in welchem Teil wir gerade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Ennio · 0:50 (bis 1:40)
Die Energieagentur Bünzli erhält die Daten eines Stromzählers in einem Gebäude mit Solaranlage, rund 5'200 XML-Dateien. Die sdat-Dateien enthalten den Verbrauch pro Viertelstunde, die ESL-Dateien die absoluten Zählerstände. Unser Auftrag war eine Webapplikation, die beides einliest, in Zählerstände umrechnet, in Diagrammen zeigt und als CSV exportiert. Verarbeitet werden nur die Sensoren ID742 für den Bezug und ID735 für die Einspeisung, das hat Herr Bünzli per E-Mail bestätigt.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0:50 (bis 2:30)
Jede Person hat eine Hauptrolle, zusätzlich haben alle am Code mitgearbeitet. Wir arbeiten sequenziell nach IPERKA, weil die Anforderungen klar vorgegeben waren und das Projekt nur fünf Tage dauert. Auf dem Trello-Board gibt es pro Projekttag eine Liste, jede Karte trägt Tag, Nummer, Rolle und Priorität, zum Beispiel «T3-4 · Verbrauchs- und Zählerstanddiagramm [UI ·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Ennio · 0:50 (bis 3:20)
Wir haben fünf SMART-Ziele formuliert, zum Beispiel dass alle lesbaren Dateien eingelesen werden und unlesbare in einer Fehlerliste landen. Das Pflichtenheft umfasst 23 Anforderungen nach MoSCoW, neun davon sind Must, F01 bis F09. Dazu kommen nichtfunktionale Anforderungen wie ein Import aller Testdaten in höchstens 60 Sekunden. Die Kosten betragen CHF 18'280 für 25 Personentage, damit ist es ein Kleinprojekt.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0:40 (bis 4:00)
Der Projektstrukturplan gliedert das Projekt nach IPERKA in sechs Teilprojekte mit 32 Arbeitspaketen, die Nummern stimmen mit dem Gantt und den Trello-Karten überein. Das Gantt zeigt den Plan in Halbtagen, die Farbe steht für die Rolle, die Rauten für die sieben Meilensteine. Der kritische Pfad verläuft über die Datenlogik: Verzögert sich ein Paket dort, verschieben sich alle Oberflächen-Arbeiten.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0:50 (bis 4:50)
Wir haben drei Nutzwertanalysen gemacht: für den Technologie-Stack, die Diagramm-Bibliothek und die Datenhaltung. Next.js gewinnt, weil die App ohne Installation im Browser läuft, bklit nur knapp vor ECharts, weil es zu unserem Design passt und ein Prototyp existierte. Das grösste Risiko war der Wechsel der Sensor-IDs ab 2023 mit Wert 9, das haben wir schon im Parser gelöst.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Gonçalo · 0:30 (bis 5:20)
In Figma haben wir Mockups für Import, Dashboard, Verbrauch, Zählerstand und Export erstellt. Nachdem mit Herrn Bünzli geklärt war, welche Daten genau dargestellt werden müssen, haben wir die Mockups angepasst. Links sehen Sie den Entwurf des Dashboards, rechts die Umsetzung mit den echten Beispieldaten.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 · 0:45 (bis 6:05)
Die ausgewählten Dateien gehen an einen Web Worker, damit die Seite beim Einlesen von rund 5'200 Dateien nicht einfriert. Die Parser werfen nie einen Fehler: Defekte Dateien landen in der Fehlerliste, der Rest läuft weiter. Danach werden Duplikate entfernt, Lücken erkannt, Zählerstände berechnet und alle Zoomstufen einmal vorberechnet, die Seiten lesen nur noch aus dem Data Store. Für die Qualität setzen wir auf TypeScript, ESLint, Prettier und automatisierte Tests mit Vitest.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 0:40 (bis 6:45)
Die sdat-Werte sind etwa dreimal so gross wie die Differenzen der ESL-Zählerstände, das hat Herr Bünzli bestätigt. Unsere erste Berechnung hat deshalb für 2018 negative Zählerstände ergeben, der Systemtest T04 war nicht bestanden. Wir haben zuerst Tests geschrieben und dann die Berechnung so angepasst, dass die sdat-Werte zwischen zwei Ablesungen skaliert werden und jede Ablesung genau getroffen wird. Im Nachtest T04b stimmen Start- und Endwerte, und der Zählerstand ist nie mehr negativ.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 0:20 (bis 7:05)
Links die leere Import-Seite: Man zieht einfach Dateien oder einen ganzen Ordner hinein. Rechts dasselbe nach dem Import aller 5'180 Beispieldateien mit Zusammenfassung pro Sensor, entfernten Duplikaten und ignorierten Dateien. Das zeigen wir Ihnen jetzt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 und Elias · 4:15 (bis 11:20)
Die Daten vor der Präsentation importieren (der volle Import dauert rund eine Minute) oder alternativ «Demo-Daten laden» nutzen, die Demo nicht mit einem Neuladen der Seite starten, sonst sind die Daten weg. Ablauf: Import-Zusammenfassung, Dashboard mit Hinweisen, Verbrauch von Jahr bis Tag mit Drill-down, Zählerstand mit ESL-Punkten, Export als CSV und JSON. Bei Problemen auf die Backup-Folien im Anhang wechseln. Spätestens bei 11:20 zur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Gonçalo · 0:50 (bis 12:10)
Wir testen auf zwei Ebenen: Unit-Tests für die ganze Datenlogik und Systemtests gegen das Pflichtenheft mit allen Beispieldaten. Die automatisierten Tests laufen mit npm test und sind alle grün. Im Systemtest wurden die sdat- und ESL-Dateien ohne Fehler gelesen, und der Fehler aus T04 wurde mit der neuen Berechnung behoben und nachgetestet.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Ennio · 0:40 (bis 12:50)
Laut Fazit der Dokumentation ist das Projektziel erreicht: Alle Muss-Funktionen sind umgesetzt, dazu JSON-Export, HTTP-POST, Dashboard, Drill-down und Login. [TODO: Soll-Ist bei Zeit und Terminen in einem Satz zusammenfassen.] [TODO: Ergebnis der Abnahme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Gonçalo · 0:45 (bis 13:35)
Gut lief die Zusammenarbeit: Wir konnten nach unseren Stärken arbeiten und Probleme schnell gemeinsam lösen. Unterschätzt haben wir die Einarbeitung in neue Technologien, dadurch gerieten wir an Tag 4 und 5 unter Zeitdruck. Nächstes Mal schätzen wir die Tickets auf dem Board, gehen schwierige Aufgaben früher an, planen einen Zeitpuffer und führen ein kurzes Daily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 0:40 (bis 14:15), je etwa 8 Sekunden
Jede Person sagt einen Satz zu ihrem wichtigsten Learning. [TODO: Sätze aus den persönlichen Reflexionen übernehmen.]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 · 0:30 (bis 14:45)
Das Projektziel ist erreicht: Flux liest die Dateien ein, rechnet die Zählerstände, zeigt Bezug und Einspeisung in Diagrammen und exportiert die Daten. Die Energieagentur Bünzli kann die Daten damit ohne Programmierkenntnisse und ohne Installation auswerten. Als Weiterentwicklung bieten sich das Zwischenspeichern im Browser und eine Hochrechnung für die Zeit ohne ESL-Werte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 · 0:15 (bis 15:00)
Wir danken Herrn Bünzli für den spannenden Auftrag und Ihnen für Ihre Aufmerksamkeit. Wir freuen uns jetzt auf Ihre Fragen und das Fachgespräch.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Problemen mit der Live-Demo zeigen. Kennzahlen für den ganzen Zeitraum, Monatswerte mit unvollständigen Monaten und Hinweise zu den 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Problemen mit der Live-Demo zeigen. Links das Jahr 2020, rechts ein einzelner Tag mit 15-Minuten-Werten.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Problemen mit der Live-Demo zeigen. Zählerstände aus sdat und ESL berechnet, nach September 2021 nur noch ESL-Werte.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Problemen mit der Live-Demo zeigen. Export als CSV pro Sensor, als JSON-Datei oder per HTTP-POST an eine einstellbare Server-URL.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46304" cy="5143500"/>
          </a:xfrm>
          <a:prstGeom prst="rect">
            <a:avLst/>
          </a:prstGeom>
          <a:solidFill>
            <a:srgbClr val="FDB51A"/>
          </a:solidFill>
          <a:ln w="12700">
            <a:solidFill>
              <a:srgbClr val="FDB51A"/>
            </a:solidFill>
            <a:prstDash val="solid"/>
          </a:ln>
        </p:spPr>
      </p:sp>
      <p:sp>
        <p:nvSpPr>
          <p:cNvPr id="4" name="Text 1"/>
          <p:cNvSpPr/>
          <p:nvPr/>
        </p:nvSpPr>
        <p:spPr>
          <a:xfrm>
            <a:off x="731520" y="1691640"/>
            <a:ext cx="7498080" cy="1097280"/>
          </a:xfrm>
          <a:prstGeom prst="rect">
            <a:avLst/>
          </a:prstGeom>
          <a:noFill/>
          <a:ln/>
        </p:spPr>
        <p:txBody>
          <a:bodyPr wrap="square" lIns="0" tIns="0" rIns="0" bIns="0" rtlCol="0" anchor="t"/>
          <a:lstStyle/>
          <a:p>
            <a:pPr algn="l" indent="0" marL="0">
              <a:buNone/>
            </a:pPr>
            <a:r>
              <a:rPr lang="en-US" sz="3200" dirty="0">
                <a:solidFill>
                  <a:srgbClr val="13161A"/>
                </a:solidFill>
                <a:latin typeface="Segoe UI Semibold" pitchFamily="34" charset="0"/>
                <a:ea typeface="Segoe UI Semibold" pitchFamily="34" charset="-122"/>
                <a:cs typeface="Segoe UI Semibold" pitchFamily="34" charset="-120"/>
              </a:rPr>
              <a:t>Software zur Visualisierung von sdat- und ESL-Zählerdaten</a:t>
            </a:r>
            <a:endParaRPr lang="en-US" sz="3200" dirty="0"/>
          </a:p>
        </p:txBody>
      </p:sp>
      <p:sp>
        <p:nvSpPr>
          <p:cNvPr id="5" name="Text 2"/>
          <p:cNvSpPr/>
          <p:nvPr/>
        </p:nvSpPr>
        <p:spPr>
          <a:xfrm>
            <a:off x="731520" y="2852928"/>
            <a:ext cx="7498080" cy="365760"/>
          </a:xfrm>
          <a:prstGeom prst="rect">
            <a:avLst/>
          </a:prstGeom>
          <a:noFill/>
          <a:ln/>
        </p:spPr>
        <p:txBody>
          <a:bodyPr wrap="square" lIns="0" tIns="0" rIns="0" bIns="0" rtlCol="0" anchor="t"/>
          <a:lstStyle/>
          <a:p>
            <a:pPr algn="l" indent="0" marL="0">
              <a:buNone/>
            </a:pPr>
            <a:r>
              <a:rPr lang="en-US" sz="1600" dirty="0">
                <a:solidFill>
                  <a:srgbClr val="595959"/>
                </a:solidFill>
                <a:latin typeface="Segoe UI" pitchFamily="34" charset="0"/>
                <a:ea typeface="Segoe UI" pitchFamily="34" charset="-122"/>
                <a:cs typeface="Segoe UI" pitchFamily="34" charset="-120"/>
              </a:rPr>
              <a:t>Projektpräsentation · Modul 306 · Gruppe 4</a:t>
            </a:r>
            <a:endParaRPr lang="en-US" sz="1600" dirty="0"/>
          </a:p>
        </p:txBody>
      </p:sp>
      <p:sp>
        <p:nvSpPr>
          <p:cNvPr id="6" name="Shape 3"/>
          <p:cNvSpPr/>
          <p:nvPr/>
        </p:nvSpPr>
        <p:spPr>
          <a:xfrm>
            <a:off x="731520" y="3529584"/>
            <a:ext cx="502920" cy="50292"/>
          </a:xfrm>
          <a:prstGeom prst="rect">
            <a:avLst/>
          </a:prstGeom>
          <a:solidFill>
            <a:srgbClr val="FDB51A"/>
          </a:solidFill>
          <a:ln w="12700">
            <a:solidFill>
              <a:srgbClr val="FDB51A"/>
            </a:solidFill>
            <a:prstDash val="solid"/>
          </a:ln>
        </p:spPr>
      </p:sp>
      <p:sp>
        <p:nvSpPr>
          <p:cNvPr id="7" name="Text 4"/>
          <p:cNvSpPr/>
          <p:nvPr/>
        </p:nvSpPr>
        <p:spPr>
          <a:xfrm>
            <a:off x="731520" y="3703320"/>
            <a:ext cx="7680960" cy="274320"/>
          </a:xfrm>
          <a:prstGeom prst="rect">
            <a:avLst/>
          </a:prstGeom>
          <a:noFill/>
          <a:ln/>
        </p:spPr>
        <p:txBody>
          <a:bodyPr wrap="square" lIns="0" tIns="0" rIns="0" bIns="0" rtlCol="0" anchor="t"/>
          <a:lstStyle/>
          <a:p>
            <a:pPr algn="l" indent="0" marL="0">
              <a:buNone/>
            </a:pPr>
            <a:r>
              <a:rPr lang="en-US" sz="1200" dirty="0">
                <a:solidFill>
                  <a:srgbClr val="13161A"/>
                </a:solidFill>
                <a:latin typeface="Segoe UI" pitchFamily="34" charset="0"/>
                <a:ea typeface="Segoe UI" pitchFamily="34" charset="-122"/>
                <a:cs typeface="Segoe UI" pitchFamily="34" charset="-120"/>
              </a:rPr>
              <a:t>Lasse Nothelfer · Ennio Vögeli · Gonçalo Pereira · Paul Kühn · Elias Hüngerle</a:t>
            </a:r>
            <a:endParaRPr lang="en-US" sz="1200" dirty="0"/>
          </a:p>
        </p:txBody>
      </p:sp>
      <p:sp>
        <p:nvSpPr>
          <p:cNvPr id="8" name="Text 5"/>
          <p:cNvSpPr/>
          <p:nvPr/>
        </p:nvSpPr>
        <p:spPr>
          <a:xfrm>
            <a:off x="731520" y="4023360"/>
            <a:ext cx="768096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Auftraggeber: Energieagentur Bünzli, Roger Bünzli · KSH / IM24 · Lehrperson: André Probst · 02.10.2026</a:t>
            </a:r>
            <a:endParaRPr lang="en-US" sz="1100" dirty="0"/>
          </a:p>
        </p:txBody>
      </p:sp>
      <p:sp>
        <p:nvSpPr>
          <p:cNvPr id="9" name="Text 6"/>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0" name="Text 7"/>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01</a:t>
            </a:r>
            <a:endParaRPr lang="en-US" sz="800" dirty="0"/>
          </a:p>
        </p:txBody>
      </p:sp>
      <p:pic>
        <p:nvPicPr>
          <p:cNvPr id="11" name="Image 0" descr="preencoded.png">    </p:cNvPr>
          <p:cNvPicPr>
            <a:picLocks noChangeAspect="1"/>
          </p:cNvPicPr>
          <p:nvPr/>
        </p:nvPicPr>
        <p:blipFill>
          <a:blip r:embed="rId1"/>
          <a:stretch>
            <a:fillRect/>
          </a:stretch>
        </p:blipFill>
        <p:spPr>
          <a:xfrm>
            <a:off x="731520" y="566928"/>
            <a:ext cx="2011680" cy="633679"/>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Agenda</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Unser roter Faden ist das Vorgehensmodell IPERKA</a:t>
            </a:r>
            <a:endParaRPr lang="en-US" sz="1300" dirty="0"/>
          </a:p>
        </p:txBody>
      </p:sp>
      <p:sp>
        <p:nvSpPr>
          <p:cNvPr id="6" name="Text 3"/>
          <p:cNvSpPr/>
          <p:nvPr/>
        </p:nvSpPr>
        <p:spPr>
          <a:xfrm>
            <a:off x="548640" y="1527048"/>
            <a:ext cx="457200" cy="457200"/>
          </a:xfrm>
          <a:prstGeom prst="rect">
            <a:avLst/>
          </a:prstGeom>
          <a:noFill/>
          <a:ln/>
        </p:spPr>
        <p:txBody>
          <a:bodyPr wrap="square" lIns="0" tIns="0" rIns="0" bIns="0" rtlCol="0" anchor="t"/>
          <a:lstStyle/>
          <a:p>
            <a:pPr algn="l" indent="0" marL="0">
              <a:buNone/>
            </a:pPr>
            <a:r>
              <a:rPr lang="en-US" sz="2200" dirty="0">
                <a:solidFill>
                  <a:srgbClr val="FDB51A"/>
                </a:solidFill>
                <a:latin typeface="Segoe UI Semibold" pitchFamily="34" charset="0"/>
                <a:ea typeface="Segoe UI Semibold" pitchFamily="34" charset="-122"/>
                <a:cs typeface="Segoe UI Semibold" pitchFamily="34" charset="-120"/>
              </a:rPr>
              <a:t>1</a:t>
            </a:r>
            <a:endParaRPr lang="en-US" sz="2200" dirty="0"/>
          </a:p>
        </p:txBody>
      </p:sp>
      <p:sp>
        <p:nvSpPr>
          <p:cNvPr id="7" name="Text 4"/>
          <p:cNvSpPr/>
          <p:nvPr/>
        </p:nvSpPr>
        <p:spPr>
          <a:xfrm>
            <a:off x="1097280" y="1563624"/>
            <a:ext cx="2743200" cy="411480"/>
          </a:xfrm>
          <a:prstGeom prst="rect">
            <a:avLst/>
          </a:prstGeom>
          <a:noFill/>
          <a:ln/>
        </p:spPr>
        <p:txBody>
          <a:bodyPr wrap="square" lIns="0" tIns="0" rIns="0" bIns="0" rtlCol="0" anchor="t"/>
          <a:lstStyle/>
          <a:p>
            <a:pPr algn="l" indent="0" marL="0">
              <a:buNone/>
            </a:pPr>
            <a:r>
              <a:rPr lang="en-US" sz="1800" dirty="0">
                <a:solidFill>
                  <a:srgbClr val="13161A"/>
                </a:solidFill>
                <a:latin typeface="Segoe UI" pitchFamily="34" charset="0"/>
                <a:ea typeface="Segoe UI" pitchFamily="34" charset="-122"/>
                <a:cs typeface="Segoe UI" pitchFamily="34" charset="-120"/>
              </a:rPr>
              <a:t>Auftrag &amp; Team</a:t>
            </a:r>
            <a:endParaRPr lang="en-US" sz="1800" dirty="0"/>
          </a:p>
        </p:txBody>
      </p:sp>
      <p:sp>
        <p:nvSpPr>
          <p:cNvPr id="8" name="Text 5"/>
          <p:cNvSpPr/>
          <p:nvPr/>
        </p:nvSpPr>
        <p:spPr>
          <a:xfrm>
            <a:off x="3931920" y="1618488"/>
            <a:ext cx="3108960" cy="365760"/>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Ausgangslage, Rollen, Vorgehen</a:t>
            </a:r>
            <a:endParaRPr lang="en-US" sz="1300" dirty="0"/>
          </a:p>
        </p:txBody>
      </p:sp>
      <p:sp>
        <p:nvSpPr>
          <p:cNvPr id="9" name="Text 6"/>
          <p:cNvSpPr/>
          <p:nvPr/>
        </p:nvSpPr>
        <p:spPr>
          <a:xfrm>
            <a:off x="6949440" y="1600200"/>
            <a:ext cx="1645920" cy="365760"/>
          </a:xfrm>
          <a:prstGeom prst="rect">
            <a:avLst/>
          </a:prstGeom>
          <a:noFill/>
          <a:ln/>
        </p:spPr>
        <p:txBody>
          <a:bodyPr wrap="square" lIns="0" tIns="0" rIns="0" bIns="0" rtlCol="0" anchor="t"/>
          <a:lstStyle/>
          <a:p>
            <a:pPr algn="r" indent="0" marL="0">
              <a:buNone/>
            </a:pPr>
            <a:r>
              <a:rPr lang="en-US" sz="1200" dirty="0">
                <a:solidFill>
                  <a:srgbClr val="595959"/>
                </a:solidFill>
                <a:latin typeface="Segoe UI" pitchFamily="34" charset="0"/>
                <a:ea typeface="Segoe UI" pitchFamily="34" charset="-122"/>
                <a:cs typeface="Segoe UI" pitchFamily="34" charset="-120"/>
              </a:rPr>
              <a:t>ab 0:50</a:t>
            </a:r>
            <a:endParaRPr lang="en-US" sz="1200" dirty="0"/>
          </a:p>
        </p:txBody>
      </p:sp>
      <p:sp>
        <p:nvSpPr>
          <p:cNvPr id="10" name="Shape 7"/>
          <p:cNvSpPr/>
          <p:nvPr/>
        </p:nvSpPr>
        <p:spPr>
          <a:xfrm flipV="1">
            <a:off x="548640" y="2048256"/>
            <a:ext cx="8046720" cy="0"/>
          </a:xfrm>
          <a:prstGeom prst="line">
            <a:avLst/>
          </a:prstGeom>
          <a:noFill/>
          <a:ln w="9525">
            <a:solidFill>
              <a:srgbClr val="E4E4E4"/>
            </a:solidFill>
            <a:prstDash val="solid"/>
          </a:ln>
        </p:spPr>
      </p:sp>
      <p:sp>
        <p:nvSpPr>
          <p:cNvPr id="11" name="Text 8"/>
          <p:cNvSpPr/>
          <p:nvPr/>
        </p:nvSpPr>
        <p:spPr>
          <a:xfrm>
            <a:off x="548640" y="2093976"/>
            <a:ext cx="457200" cy="457200"/>
          </a:xfrm>
          <a:prstGeom prst="rect">
            <a:avLst/>
          </a:prstGeom>
          <a:noFill/>
          <a:ln/>
        </p:spPr>
        <p:txBody>
          <a:bodyPr wrap="square" lIns="0" tIns="0" rIns="0" bIns="0" rtlCol="0" anchor="t"/>
          <a:lstStyle/>
          <a:p>
            <a:pPr algn="l" indent="0" marL="0">
              <a:buNone/>
            </a:pPr>
            <a:r>
              <a:rPr lang="en-US" sz="2200" dirty="0">
                <a:solidFill>
                  <a:srgbClr val="FDB51A"/>
                </a:solidFill>
                <a:latin typeface="Segoe UI Semibold" pitchFamily="34" charset="0"/>
                <a:ea typeface="Segoe UI Semibold" pitchFamily="34" charset="-122"/>
                <a:cs typeface="Segoe UI Semibold" pitchFamily="34" charset="-120"/>
              </a:rPr>
              <a:t>2</a:t>
            </a:r>
            <a:endParaRPr lang="en-US" sz="2200" dirty="0"/>
          </a:p>
        </p:txBody>
      </p:sp>
      <p:sp>
        <p:nvSpPr>
          <p:cNvPr id="12" name="Text 9"/>
          <p:cNvSpPr/>
          <p:nvPr/>
        </p:nvSpPr>
        <p:spPr>
          <a:xfrm>
            <a:off x="1097280" y="2130552"/>
            <a:ext cx="2743200" cy="411480"/>
          </a:xfrm>
          <a:prstGeom prst="rect">
            <a:avLst/>
          </a:prstGeom>
          <a:noFill/>
          <a:ln/>
        </p:spPr>
        <p:txBody>
          <a:bodyPr wrap="square" lIns="0" tIns="0" rIns="0" bIns="0" rtlCol="0" anchor="t"/>
          <a:lstStyle/>
          <a:p>
            <a:pPr algn="l" indent="0" marL="0">
              <a:buNone/>
            </a:pPr>
            <a:r>
              <a:rPr lang="en-US" sz="1800" dirty="0">
                <a:solidFill>
                  <a:srgbClr val="13161A"/>
                </a:solidFill>
                <a:latin typeface="Segoe UI" pitchFamily="34" charset="0"/>
                <a:ea typeface="Segoe UI" pitchFamily="34" charset="-122"/>
                <a:cs typeface="Segoe UI" pitchFamily="34" charset="-120"/>
              </a:rPr>
              <a:t>Planung</a:t>
            </a:r>
            <a:endParaRPr lang="en-US" sz="1800" dirty="0"/>
          </a:p>
        </p:txBody>
      </p:sp>
      <p:sp>
        <p:nvSpPr>
          <p:cNvPr id="13" name="Text 10"/>
          <p:cNvSpPr/>
          <p:nvPr/>
        </p:nvSpPr>
        <p:spPr>
          <a:xfrm>
            <a:off x="3931920" y="2185416"/>
            <a:ext cx="3108960" cy="365760"/>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Informieren, Planen, Entscheiden</a:t>
            </a:r>
            <a:endParaRPr lang="en-US" sz="1300" dirty="0"/>
          </a:p>
        </p:txBody>
      </p:sp>
      <p:sp>
        <p:nvSpPr>
          <p:cNvPr id="14" name="Text 11"/>
          <p:cNvSpPr/>
          <p:nvPr/>
        </p:nvSpPr>
        <p:spPr>
          <a:xfrm>
            <a:off x="6949440" y="2167128"/>
            <a:ext cx="1645920" cy="365760"/>
          </a:xfrm>
          <a:prstGeom prst="rect">
            <a:avLst/>
          </a:prstGeom>
          <a:noFill/>
          <a:ln/>
        </p:spPr>
        <p:txBody>
          <a:bodyPr wrap="square" lIns="0" tIns="0" rIns="0" bIns="0" rtlCol="0" anchor="t"/>
          <a:lstStyle/>
          <a:p>
            <a:pPr algn="r" indent="0" marL="0">
              <a:buNone/>
            </a:pPr>
            <a:r>
              <a:rPr lang="en-US" sz="1200" dirty="0">
                <a:solidFill>
                  <a:srgbClr val="595959"/>
                </a:solidFill>
                <a:latin typeface="Segoe UI" pitchFamily="34" charset="0"/>
                <a:ea typeface="Segoe UI" pitchFamily="34" charset="-122"/>
                <a:cs typeface="Segoe UI" pitchFamily="34" charset="-120"/>
              </a:rPr>
              <a:t>ab 2:30</a:t>
            </a:r>
            <a:endParaRPr lang="en-US" sz="1200" dirty="0"/>
          </a:p>
        </p:txBody>
      </p:sp>
      <p:sp>
        <p:nvSpPr>
          <p:cNvPr id="15" name="Shape 12"/>
          <p:cNvSpPr/>
          <p:nvPr/>
        </p:nvSpPr>
        <p:spPr>
          <a:xfrm flipV="1">
            <a:off x="548640" y="2615184"/>
            <a:ext cx="8046720" cy="0"/>
          </a:xfrm>
          <a:prstGeom prst="line">
            <a:avLst/>
          </a:prstGeom>
          <a:noFill/>
          <a:ln w="9525">
            <a:solidFill>
              <a:srgbClr val="E4E4E4"/>
            </a:solidFill>
            <a:prstDash val="solid"/>
          </a:ln>
        </p:spPr>
      </p:sp>
      <p:sp>
        <p:nvSpPr>
          <p:cNvPr id="16" name="Text 13"/>
          <p:cNvSpPr/>
          <p:nvPr/>
        </p:nvSpPr>
        <p:spPr>
          <a:xfrm>
            <a:off x="548640" y="2660904"/>
            <a:ext cx="457200" cy="457200"/>
          </a:xfrm>
          <a:prstGeom prst="rect">
            <a:avLst/>
          </a:prstGeom>
          <a:noFill/>
          <a:ln/>
        </p:spPr>
        <p:txBody>
          <a:bodyPr wrap="square" lIns="0" tIns="0" rIns="0" bIns="0" rtlCol="0" anchor="t"/>
          <a:lstStyle/>
          <a:p>
            <a:pPr algn="l" indent="0" marL="0">
              <a:buNone/>
            </a:pPr>
            <a:r>
              <a:rPr lang="en-US" sz="2200" dirty="0">
                <a:solidFill>
                  <a:srgbClr val="FDB51A"/>
                </a:solidFill>
                <a:latin typeface="Segoe UI Semibold" pitchFamily="34" charset="0"/>
                <a:ea typeface="Segoe UI Semibold" pitchFamily="34" charset="-122"/>
                <a:cs typeface="Segoe UI Semibold" pitchFamily="34" charset="-120"/>
              </a:rPr>
              <a:t>3</a:t>
            </a:r>
            <a:endParaRPr lang="en-US" sz="2200" dirty="0"/>
          </a:p>
        </p:txBody>
      </p:sp>
      <p:sp>
        <p:nvSpPr>
          <p:cNvPr id="17" name="Text 14"/>
          <p:cNvSpPr/>
          <p:nvPr/>
        </p:nvSpPr>
        <p:spPr>
          <a:xfrm>
            <a:off x="1097280" y="2697480"/>
            <a:ext cx="2743200" cy="411480"/>
          </a:xfrm>
          <a:prstGeom prst="rect">
            <a:avLst/>
          </a:prstGeom>
          <a:noFill/>
          <a:ln/>
        </p:spPr>
        <p:txBody>
          <a:bodyPr wrap="square" lIns="0" tIns="0" rIns="0" bIns="0" rtlCol="0" anchor="t"/>
          <a:lstStyle/>
          <a:p>
            <a:pPr algn="l" indent="0" marL="0">
              <a:buNone/>
            </a:pPr>
            <a:r>
              <a:rPr lang="en-US" sz="1800" dirty="0">
                <a:solidFill>
                  <a:srgbClr val="13161A"/>
                </a:solidFill>
                <a:latin typeface="Segoe UI" pitchFamily="34" charset="0"/>
                <a:ea typeface="Segoe UI" pitchFamily="34" charset="-122"/>
                <a:cs typeface="Segoe UI" pitchFamily="34" charset="-120"/>
              </a:rPr>
              <a:t>Umsetzung &amp; Demo</a:t>
            </a:r>
            <a:endParaRPr lang="en-US" sz="1800" dirty="0"/>
          </a:p>
        </p:txBody>
      </p:sp>
      <p:sp>
        <p:nvSpPr>
          <p:cNvPr id="18" name="Text 15"/>
          <p:cNvSpPr/>
          <p:nvPr/>
        </p:nvSpPr>
        <p:spPr>
          <a:xfrm>
            <a:off x="3931920" y="2752344"/>
            <a:ext cx="3108960" cy="365760"/>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Realisieren, Live-Demo</a:t>
            </a:r>
            <a:endParaRPr lang="en-US" sz="1300" dirty="0"/>
          </a:p>
        </p:txBody>
      </p:sp>
      <p:sp>
        <p:nvSpPr>
          <p:cNvPr id="19" name="Text 16"/>
          <p:cNvSpPr/>
          <p:nvPr/>
        </p:nvSpPr>
        <p:spPr>
          <a:xfrm>
            <a:off x="6949440" y="2734056"/>
            <a:ext cx="1645920" cy="365760"/>
          </a:xfrm>
          <a:prstGeom prst="rect">
            <a:avLst/>
          </a:prstGeom>
          <a:noFill/>
          <a:ln/>
        </p:spPr>
        <p:txBody>
          <a:bodyPr wrap="square" lIns="0" tIns="0" rIns="0" bIns="0" rtlCol="0" anchor="t"/>
          <a:lstStyle/>
          <a:p>
            <a:pPr algn="r" indent="0" marL="0">
              <a:buNone/>
            </a:pPr>
            <a:r>
              <a:rPr lang="en-US" sz="1200" dirty="0">
                <a:solidFill>
                  <a:srgbClr val="595959"/>
                </a:solidFill>
                <a:latin typeface="Segoe UI" pitchFamily="34" charset="0"/>
                <a:ea typeface="Segoe UI" pitchFamily="34" charset="-122"/>
                <a:cs typeface="Segoe UI" pitchFamily="34" charset="-120"/>
              </a:rPr>
              <a:t>ab 5:20</a:t>
            </a:r>
            <a:endParaRPr lang="en-US" sz="1200" dirty="0"/>
          </a:p>
        </p:txBody>
      </p:sp>
      <p:sp>
        <p:nvSpPr>
          <p:cNvPr id="20" name="Shape 17"/>
          <p:cNvSpPr/>
          <p:nvPr/>
        </p:nvSpPr>
        <p:spPr>
          <a:xfrm flipV="1">
            <a:off x="548640" y="3182112"/>
            <a:ext cx="8046720" cy="0"/>
          </a:xfrm>
          <a:prstGeom prst="line">
            <a:avLst/>
          </a:prstGeom>
          <a:noFill/>
          <a:ln w="9525">
            <a:solidFill>
              <a:srgbClr val="E4E4E4"/>
            </a:solidFill>
            <a:prstDash val="solid"/>
          </a:ln>
        </p:spPr>
      </p:sp>
      <p:sp>
        <p:nvSpPr>
          <p:cNvPr id="21" name="Text 18"/>
          <p:cNvSpPr/>
          <p:nvPr/>
        </p:nvSpPr>
        <p:spPr>
          <a:xfrm>
            <a:off x="548640" y="3227832"/>
            <a:ext cx="457200" cy="457200"/>
          </a:xfrm>
          <a:prstGeom prst="rect">
            <a:avLst/>
          </a:prstGeom>
          <a:noFill/>
          <a:ln/>
        </p:spPr>
        <p:txBody>
          <a:bodyPr wrap="square" lIns="0" tIns="0" rIns="0" bIns="0" rtlCol="0" anchor="t"/>
          <a:lstStyle/>
          <a:p>
            <a:pPr algn="l" indent="0" marL="0">
              <a:buNone/>
            </a:pPr>
            <a:r>
              <a:rPr lang="en-US" sz="2200" dirty="0">
                <a:solidFill>
                  <a:srgbClr val="FDB51A"/>
                </a:solidFill>
                <a:latin typeface="Segoe UI Semibold" pitchFamily="34" charset="0"/>
                <a:ea typeface="Segoe UI Semibold" pitchFamily="34" charset="-122"/>
                <a:cs typeface="Segoe UI Semibold" pitchFamily="34" charset="-120"/>
              </a:rPr>
              <a:t>4</a:t>
            </a:r>
            <a:endParaRPr lang="en-US" sz="2200" dirty="0"/>
          </a:p>
        </p:txBody>
      </p:sp>
      <p:sp>
        <p:nvSpPr>
          <p:cNvPr id="22" name="Text 19"/>
          <p:cNvSpPr/>
          <p:nvPr/>
        </p:nvSpPr>
        <p:spPr>
          <a:xfrm>
            <a:off x="1097280" y="3264408"/>
            <a:ext cx="2743200" cy="411480"/>
          </a:xfrm>
          <a:prstGeom prst="rect">
            <a:avLst/>
          </a:prstGeom>
          <a:noFill/>
          <a:ln/>
        </p:spPr>
        <p:txBody>
          <a:bodyPr wrap="square" lIns="0" tIns="0" rIns="0" bIns="0" rtlCol="0" anchor="t"/>
          <a:lstStyle/>
          <a:p>
            <a:pPr algn="l" indent="0" marL="0">
              <a:buNone/>
            </a:pPr>
            <a:r>
              <a:rPr lang="en-US" sz="1800" dirty="0">
                <a:solidFill>
                  <a:srgbClr val="13161A"/>
                </a:solidFill>
                <a:latin typeface="Segoe UI" pitchFamily="34" charset="0"/>
                <a:ea typeface="Segoe UI" pitchFamily="34" charset="-122"/>
                <a:cs typeface="Segoe UI" pitchFamily="34" charset="-120"/>
              </a:rPr>
              <a:t>Kontrolle</a:t>
            </a:r>
            <a:endParaRPr lang="en-US" sz="1800" dirty="0"/>
          </a:p>
        </p:txBody>
      </p:sp>
      <p:sp>
        <p:nvSpPr>
          <p:cNvPr id="23" name="Text 20"/>
          <p:cNvSpPr/>
          <p:nvPr/>
        </p:nvSpPr>
        <p:spPr>
          <a:xfrm>
            <a:off x="3931920" y="3319272"/>
            <a:ext cx="3108960" cy="365760"/>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Tests, Soll-Ist, Abnahme</a:t>
            </a:r>
            <a:endParaRPr lang="en-US" sz="1300" dirty="0"/>
          </a:p>
        </p:txBody>
      </p:sp>
      <p:sp>
        <p:nvSpPr>
          <p:cNvPr id="24" name="Text 21"/>
          <p:cNvSpPr/>
          <p:nvPr/>
        </p:nvSpPr>
        <p:spPr>
          <a:xfrm>
            <a:off x="6949440" y="3300984"/>
            <a:ext cx="1645920" cy="365760"/>
          </a:xfrm>
          <a:prstGeom prst="rect">
            <a:avLst/>
          </a:prstGeom>
          <a:noFill/>
          <a:ln/>
        </p:spPr>
        <p:txBody>
          <a:bodyPr wrap="square" lIns="0" tIns="0" rIns="0" bIns="0" rtlCol="0" anchor="t"/>
          <a:lstStyle/>
          <a:p>
            <a:pPr algn="r" indent="0" marL="0">
              <a:buNone/>
            </a:pPr>
            <a:r>
              <a:rPr lang="en-US" sz="1200" dirty="0">
                <a:solidFill>
                  <a:srgbClr val="595959"/>
                </a:solidFill>
                <a:latin typeface="Segoe UI" pitchFamily="34" charset="0"/>
                <a:ea typeface="Segoe UI" pitchFamily="34" charset="-122"/>
                <a:cs typeface="Segoe UI" pitchFamily="34" charset="-120"/>
              </a:rPr>
              <a:t>ab 11:20</a:t>
            </a:r>
            <a:endParaRPr lang="en-US" sz="1200" dirty="0"/>
          </a:p>
        </p:txBody>
      </p:sp>
      <p:sp>
        <p:nvSpPr>
          <p:cNvPr id="25" name="Shape 22"/>
          <p:cNvSpPr/>
          <p:nvPr/>
        </p:nvSpPr>
        <p:spPr>
          <a:xfrm flipV="1">
            <a:off x="548640" y="3749040"/>
            <a:ext cx="8046720" cy="0"/>
          </a:xfrm>
          <a:prstGeom prst="line">
            <a:avLst/>
          </a:prstGeom>
          <a:noFill/>
          <a:ln w="9525">
            <a:solidFill>
              <a:srgbClr val="E4E4E4"/>
            </a:solidFill>
            <a:prstDash val="solid"/>
          </a:ln>
        </p:spPr>
      </p:sp>
      <p:sp>
        <p:nvSpPr>
          <p:cNvPr id="26" name="Text 23"/>
          <p:cNvSpPr/>
          <p:nvPr/>
        </p:nvSpPr>
        <p:spPr>
          <a:xfrm>
            <a:off x="548640" y="3794760"/>
            <a:ext cx="457200" cy="457200"/>
          </a:xfrm>
          <a:prstGeom prst="rect">
            <a:avLst/>
          </a:prstGeom>
          <a:noFill/>
          <a:ln/>
        </p:spPr>
        <p:txBody>
          <a:bodyPr wrap="square" lIns="0" tIns="0" rIns="0" bIns="0" rtlCol="0" anchor="t"/>
          <a:lstStyle/>
          <a:p>
            <a:pPr algn="l" indent="0" marL="0">
              <a:buNone/>
            </a:pPr>
            <a:r>
              <a:rPr lang="en-US" sz="2200" dirty="0">
                <a:solidFill>
                  <a:srgbClr val="FDB51A"/>
                </a:solidFill>
                <a:latin typeface="Segoe UI Semibold" pitchFamily="34" charset="0"/>
                <a:ea typeface="Segoe UI Semibold" pitchFamily="34" charset="-122"/>
                <a:cs typeface="Segoe UI Semibold" pitchFamily="34" charset="-120"/>
              </a:rPr>
              <a:t>5</a:t>
            </a:r>
            <a:endParaRPr lang="en-US" sz="2200" dirty="0"/>
          </a:p>
        </p:txBody>
      </p:sp>
      <p:sp>
        <p:nvSpPr>
          <p:cNvPr id="27" name="Text 24"/>
          <p:cNvSpPr/>
          <p:nvPr/>
        </p:nvSpPr>
        <p:spPr>
          <a:xfrm>
            <a:off x="1097280" y="3831336"/>
            <a:ext cx="2743200" cy="411480"/>
          </a:xfrm>
          <a:prstGeom prst="rect">
            <a:avLst/>
          </a:prstGeom>
          <a:noFill/>
          <a:ln/>
        </p:spPr>
        <p:txBody>
          <a:bodyPr wrap="square" lIns="0" tIns="0" rIns="0" bIns="0" rtlCol="0" anchor="t"/>
          <a:lstStyle/>
          <a:p>
            <a:pPr algn="l" indent="0" marL="0">
              <a:buNone/>
            </a:pPr>
            <a:r>
              <a:rPr lang="en-US" sz="1800" dirty="0">
                <a:solidFill>
                  <a:srgbClr val="13161A"/>
                </a:solidFill>
                <a:latin typeface="Segoe UI" pitchFamily="34" charset="0"/>
                <a:ea typeface="Segoe UI" pitchFamily="34" charset="-122"/>
                <a:cs typeface="Segoe UI" pitchFamily="34" charset="-120"/>
              </a:rPr>
              <a:t>Auswertung</a:t>
            </a:r>
            <a:endParaRPr lang="en-US" sz="1800" dirty="0"/>
          </a:p>
        </p:txBody>
      </p:sp>
      <p:sp>
        <p:nvSpPr>
          <p:cNvPr id="28" name="Text 25"/>
          <p:cNvSpPr/>
          <p:nvPr/>
        </p:nvSpPr>
        <p:spPr>
          <a:xfrm>
            <a:off x="3931920" y="3886200"/>
            <a:ext cx="3108960" cy="365760"/>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Reflexion, Fazit</a:t>
            </a:r>
            <a:endParaRPr lang="en-US" sz="1300" dirty="0"/>
          </a:p>
        </p:txBody>
      </p:sp>
      <p:sp>
        <p:nvSpPr>
          <p:cNvPr id="29" name="Text 26"/>
          <p:cNvSpPr/>
          <p:nvPr/>
        </p:nvSpPr>
        <p:spPr>
          <a:xfrm>
            <a:off x="6949440" y="3867912"/>
            <a:ext cx="1645920" cy="365760"/>
          </a:xfrm>
          <a:prstGeom prst="rect">
            <a:avLst/>
          </a:prstGeom>
          <a:noFill/>
          <a:ln/>
        </p:spPr>
        <p:txBody>
          <a:bodyPr wrap="square" lIns="0" tIns="0" rIns="0" bIns="0" rtlCol="0" anchor="t"/>
          <a:lstStyle/>
          <a:p>
            <a:pPr algn="r" indent="0" marL="0">
              <a:buNone/>
            </a:pPr>
            <a:r>
              <a:rPr lang="en-US" sz="1200" dirty="0">
                <a:solidFill>
                  <a:srgbClr val="595959"/>
                </a:solidFill>
                <a:latin typeface="Segoe UI" pitchFamily="34" charset="0"/>
                <a:ea typeface="Segoe UI" pitchFamily="34" charset="-122"/>
                <a:cs typeface="Segoe UI" pitchFamily="34" charset="-120"/>
              </a:rPr>
              <a:t>ab 12:50</a:t>
            </a:r>
            <a:endParaRPr lang="en-US" sz="1200" dirty="0"/>
          </a:p>
        </p:txBody>
      </p:sp>
      <p:sp>
        <p:nvSpPr>
          <p:cNvPr id="30" name="Text 27"/>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31" name="Text 28"/>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02</a:t>
            </a:r>
            <a:endParaRPr lang="en-US" sz="8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5'200 Dateien, die niemand von Hand auswertet</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Ausgangslage und Auftrag der Energieagentur Bünzli</a:t>
            </a:r>
            <a:endParaRPr lang="en-US" sz="1300" dirty="0"/>
          </a:p>
        </p:txBody>
      </p:sp>
      <p:sp>
        <p:nvSpPr>
          <p:cNvPr id="6" name="Text 3"/>
          <p:cNvSpPr/>
          <p:nvPr/>
        </p:nvSpPr>
        <p:spPr>
          <a:xfrm>
            <a:off x="548640" y="1481328"/>
            <a:ext cx="4846320" cy="3072384"/>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Messdaten eines Gebäudes mit Solaranlage, als sdat- und ESL-Dateien</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sdat: Verbrauch pro 15 Minuten · ESL: absolute Zählerstände</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Auftrag: einlesen, in Zählerstände umrechnen, darstellen, als CSV exportieren</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Für Mitarbeitende ohne Programmierkenntnisse</a:t>
            </a:r>
            <a:endParaRPr lang="en-US" sz="1500" dirty="0"/>
          </a:p>
        </p:txBody>
      </p:sp>
      <p:sp>
        <p:nvSpPr>
          <p:cNvPr id="7" name="Shape 4"/>
          <p:cNvSpPr/>
          <p:nvPr/>
        </p:nvSpPr>
        <p:spPr>
          <a:xfrm>
            <a:off x="5806440" y="1481328"/>
            <a:ext cx="2788920" cy="3072384"/>
          </a:xfrm>
          <a:prstGeom prst="rect">
            <a:avLst/>
          </a:prstGeom>
          <a:solidFill>
            <a:srgbClr val="F6F6F4"/>
          </a:solidFill>
          <a:ln w="12700">
            <a:solidFill>
              <a:srgbClr val="F6F6F4"/>
            </a:solidFill>
            <a:prstDash val="solid"/>
          </a:ln>
        </p:spPr>
      </p:sp>
      <p:sp>
        <p:nvSpPr>
          <p:cNvPr id="8" name="Text 5"/>
          <p:cNvSpPr/>
          <p:nvPr/>
        </p:nvSpPr>
        <p:spPr>
          <a:xfrm>
            <a:off x="6080760" y="1618488"/>
            <a:ext cx="237744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5'133</a:t>
            </a:r>
            <a:endParaRPr lang="en-US" sz="3000" dirty="0"/>
          </a:p>
        </p:txBody>
      </p:sp>
      <p:sp>
        <p:nvSpPr>
          <p:cNvPr id="9" name="Text 6"/>
          <p:cNvSpPr/>
          <p:nvPr/>
        </p:nvSpPr>
        <p:spPr>
          <a:xfrm>
            <a:off x="6080760" y="2167128"/>
            <a:ext cx="237744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sdat-Dateien, Verbrauch pro 15 Min.</a:t>
            </a:r>
            <a:endParaRPr lang="en-US" sz="1100" dirty="0"/>
          </a:p>
        </p:txBody>
      </p:sp>
      <p:sp>
        <p:nvSpPr>
          <p:cNvPr id="10" name="Text 7"/>
          <p:cNvSpPr/>
          <p:nvPr/>
        </p:nvSpPr>
        <p:spPr>
          <a:xfrm>
            <a:off x="6080760" y="2532888"/>
            <a:ext cx="237744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47</a:t>
            </a:r>
            <a:endParaRPr lang="en-US" sz="3000" dirty="0"/>
          </a:p>
        </p:txBody>
      </p:sp>
      <p:sp>
        <p:nvSpPr>
          <p:cNvPr id="11" name="Text 8"/>
          <p:cNvSpPr/>
          <p:nvPr/>
        </p:nvSpPr>
        <p:spPr>
          <a:xfrm>
            <a:off x="6080760" y="3081528"/>
            <a:ext cx="237744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ESL-Dateien, absolute Zählerstände</a:t>
            </a:r>
            <a:endParaRPr lang="en-US" sz="1100" dirty="0"/>
          </a:p>
        </p:txBody>
      </p:sp>
      <p:sp>
        <p:nvSpPr>
          <p:cNvPr id="12" name="Text 9"/>
          <p:cNvSpPr/>
          <p:nvPr/>
        </p:nvSpPr>
        <p:spPr>
          <a:xfrm>
            <a:off x="6080760" y="3447288"/>
            <a:ext cx="237744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2</a:t>
            </a:r>
            <a:endParaRPr lang="en-US" sz="3000" dirty="0"/>
          </a:p>
        </p:txBody>
      </p:sp>
      <p:sp>
        <p:nvSpPr>
          <p:cNvPr id="13" name="Text 10"/>
          <p:cNvSpPr/>
          <p:nvPr/>
        </p:nvSpPr>
        <p:spPr>
          <a:xfrm>
            <a:off x="6080760" y="3995928"/>
            <a:ext cx="237744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Sensoren: ID742 Bezug, ID735 Einspeisung</a:t>
            </a:r>
            <a:endParaRPr lang="en-US" sz="1100" dirty="0"/>
          </a:p>
        </p:txBody>
      </p:sp>
      <p:sp>
        <p:nvSpPr>
          <p:cNvPr id="14" name="Text 11"/>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5" name="Shape 12"/>
          <p:cNvSpPr/>
          <p:nvPr/>
        </p:nvSpPr>
        <p:spPr>
          <a:xfrm>
            <a:off x="2148840" y="4709160"/>
            <a:ext cx="1060704" cy="22860"/>
          </a:xfrm>
          <a:prstGeom prst="rect">
            <a:avLst/>
          </a:prstGeom>
          <a:solidFill>
            <a:srgbClr val="FDB51A"/>
          </a:solidFill>
          <a:ln w="12700">
            <a:solidFill>
              <a:srgbClr val="FDB51A"/>
            </a:solidFill>
            <a:prstDash val="solid"/>
          </a:ln>
        </p:spPr>
      </p:sp>
      <p:sp>
        <p:nvSpPr>
          <p:cNvPr id="16" name="Text 13"/>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Auftrag &amp; Team</a:t>
            </a:r>
            <a:endParaRPr lang="en-US" sz="700" dirty="0"/>
          </a:p>
        </p:txBody>
      </p:sp>
      <p:sp>
        <p:nvSpPr>
          <p:cNvPr id="17" name="Shape 14"/>
          <p:cNvSpPr/>
          <p:nvPr/>
        </p:nvSpPr>
        <p:spPr>
          <a:xfrm>
            <a:off x="3282696" y="4709160"/>
            <a:ext cx="1060704" cy="22860"/>
          </a:xfrm>
          <a:prstGeom prst="rect">
            <a:avLst/>
          </a:prstGeom>
          <a:solidFill>
            <a:srgbClr val="E4E4E4"/>
          </a:solidFill>
          <a:ln w="12700">
            <a:solidFill>
              <a:srgbClr val="E4E4E4"/>
            </a:solidFill>
            <a:prstDash val="solid"/>
          </a:ln>
        </p:spPr>
      </p:sp>
      <p:sp>
        <p:nvSpPr>
          <p:cNvPr id="18" name="Text 15"/>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9" name="Shape 16"/>
          <p:cNvSpPr/>
          <p:nvPr/>
        </p:nvSpPr>
        <p:spPr>
          <a:xfrm>
            <a:off x="4416552" y="4709160"/>
            <a:ext cx="1060704" cy="22860"/>
          </a:xfrm>
          <a:prstGeom prst="rect">
            <a:avLst/>
          </a:prstGeom>
          <a:solidFill>
            <a:srgbClr val="E4E4E4"/>
          </a:solidFill>
          <a:ln w="12700">
            <a:solidFill>
              <a:srgbClr val="E4E4E4"/>
            </a:solidFill>
            <a:prstDash val="solid"/>
          </a:ln>
        </p:spPr>
      </p:sp>
      <p:sp>
        <p:nvSpPr>
          <p:cNvPr id="20" name="Text 17"/>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21" name="Shape 18"/>
          <p:cNvSpPr/>
          <p:nvPr/>
        </p:nvSpPr>
        <p:spPr>
          <a:xfrm>
            <a:off x="5550408" y="4709160"/>
            <a:ext cx="1060704" cy="22860"/>
          </a:xfrm>
          <a:prstGeom prst="rect">
            <a:avLst/>
          </a:prstGeom>
          <a:solidFill>
            <a:srgbClr val="E4E4E4"/>
          </a:solidFill>
          <a:ln w="12700">
            <a:solidFill>
              <a:srgbClr val="E4E4E4"/>
            </a:solidFill>
            <a:prstDash val="solid"/>
          </a:ln>
        </p:spPr>
      </p:sp>
      <p:sp>
        <p:nvSpPr>
          <p:cNvPr id="22" name="Text 19"/>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3" name="Shape 20"/>
          <p:cNvSpPr/>
          <p:nvPr/>
        </p:nvSpPr>
        <p:spPr>
          <a:xfrm>
            <a:off x="6684264" y="4709160"/>
            <a:ext cx="1060704" cy="22860"/>
          </a:xfrm>
          <a:prstGeom prst="rect">
            <a:avLst/>
          </a:prstGeom>
          <a:solidFill>
            <a:srgbClr val="E4E4E4"/>
          </a:solidFill>
          <a:ln w="12700">
            <a:solidFill>
              <a:srgbClr val="E4E4E4"/>
            </a:solidFill>
            <a:prstDash val="solid"/>
          </a:ln>
        </p:spPr>
      </p:sp>
      <p:sp>
        <p:nvSpPr>
          <p:cNvPr id="24" name="Text 21"/>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5" name="Text 22"/>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03</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Fünf Rollen, ein Board, sechs Phasen</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Projektteam und Vorgehen nach IPERKA mit Trello</a:t>
            </a:r>
            <a:endParaRPr lang="en-US" sz="1300" dirty="0"/>
          </a:p>
        </p:txBody>
      </p:sp>
      <p:sp>
        <p:nvSpPr>
          <p:cNvPr id="6" name="Text 3"/>
          <p:cNvSpPr/>
          <p:nvPr/>
        </p:nvSpPr>
        <p:spPr>
          <a:xfrm>
            <a:off x="548640" y="1481328"/>
            <a:ext cx="365760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Team</a:t>
            </a:r>
            <a:endParaRPr lang="en-US" sz="1400" dirty="0"/>
          </a:p>
        </p:txBody>
      </p:sp>
      <p:sp>
        <p:nvSpPr>
          <p:cNvPr id="7" name="Text 4"/>
          <p:cNvSpPr/>
          <p:nvPr/>
        </p:nvSpPr>
        <p:spPr>
          <a:xfrm>
            <a:off x="548640" y="1920240"/>
            <a:ext cx="1920240" cy="329184"/>
          </a:xfrm>
          <a:prstGeom prst="rect">
            <a:avLst/>
          </a:prstGeom>
          <a:noFill/>
          <a:ln/>
        </p:spPr>
        <p:txBody>
          <a:bodyPr wrap="square" lIns="0" tIns="0" rIns="0" bIns="0" rtlCol="0" anchor="t"/>
          <a:lstStyle/>
          <a:p>
            <a:pPr algn="l" indent="0" marL="0">
              <a:buNone/>
            </a:pPr>
            <a:r>
              <a:rPr lang="en-US" sz="1400" dirty="0">
                <a:solidFill>
                  <a:srgbClr val="13161A"/>
                </a:solidFill>
                <a:latin typeface="Segoe UI" pitchFamily="34" charset="0"/>
                <a:ea typeface="Segoe UI" pitchFamily="34" charset="-122"/>
                <a:cs typeface="Segoe UI" pitchFamily="34" charset="-120"/>
              </a:rPr>
              <a:t>Lasse Nothelfer</a:t>
            </a:r>
            <a:endParaRPr lang="en-US" sz="1400" dirty="0"/>
          </a:p>
        </p:txBody>
      </p:sp>
      <p:sp>
        <p:nvSpPr>
          <p:cNvPr id="8" name="Text 5"/>
          <p:cNvSpPr/>
          <p:nvPr/>
        </p:nvSpPr>
        <p:spPr>
          <a:xfrm>
            <a:off x="2514600" y="1938528"/>
            <a:ext cx="1828800" cy="329184"/>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Projektleitung</a:t>
            </a:r>
            <a:endParaRPr lang="en-US" sz="1300" dirty="0"/>
          </a:p>
        </p:txBody>
      </p:sp>
      <p:sp>
        <p:nvSpPr>
          <p:cNvPr id="9" name="Shape 6"/>
          <p:cNvSpPr/>
          <p:nvPr/>
        </p:nvSpPr>
        <p:spPr>
          <a:xfrm flipV="1">
            <a:off x="548640" y="2313432"/>
            <a:ext cx="3749040" cy="0"/>
          </a:xfrm>
          <a:prstGeom prst="line">
            <a:avLst/>
          </a:prstGeom>
          <a:noFill/>
          <a:ln w="9525">
            <a:solidFill>
              <a:srgbClr val="E4E4E4"/>
            </a:solidFill>
            <a:prstDash val="solid"/>
          </a:ln>
        </p:spPr>
      </p:sp>
      <p:sp>
        <p:nvSpPr>
          <p:cNvPr id="10" name="Text 7"/>
          <p:cNvSpPr/>
          <p:nvPr/>
        </p:nvSpPr>
        <p:spPr>
          <a:xfrm>
            <a:off x="548640" y="2395728"/>
            <a:ext cx="1920240" cy="329184"/>
          </a:xfrm>
          <a:prstGeom prst="rect">
            <a:avLst/>
          </a:prstGeom>
          <a:noFill/>
          <a:ln/>
        </p:spPr>
        <p:txBody>
          <a:bodyPr wrap="square" lIns="0" tIns="0" rIns="0" bIns="0" rtlCol="0" anchor="t"/>
          <a:lstStyle/>
          <a:p>
            <a:pPr algn="l" indent="0" marL="0">
              <a:buNone/>
            </a:pPr>
            <a:r>
              <a:rPr lang="en-US" sz="1400" dirty="0">
                <a:solidFill>
                  <a:srgbClr val="13161A"/>
                </a:solidFill>
                <a:latin typeface="Segoe UI" pitchFamily="34" charset="0"/>
                <a:ea typeface="Segoe UI" pitchFamily="34" charset="-122"/>
                <a:cs typeface="Segoe UI" pitchFamily="34" charset="-120"/>
              </a:rPr>
              <a:t>Ennio Vögeli</a:t>
            </a:r>
            <a:endParaRPr lang="en-US" sz="1400" dirty="0"/>
          </a:p>
        </p:txBody>
      </p:sp>
      <p:sp>
        <p:nvSpPr>
          <p:cNvPr id="11" name="Text 8"/>
          <p:cNvSpPr/>
          <p:nvPr/>
        </p:nvSpPr>
        <p:spPr>
          <a:xfrm>
            <a:off x="2514600" y="2414016"/>
            <a:ext cx="1828800" cy="329184"/>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Dokumentation</a:t>
            </a:r>
            <a:endParaRPr lang="en-US" sz="1300" dirty="0"/>
          </a:p>
        </p:txBody>
      </p:sp>
      <p:sp>
        <p:nvSpPr>
          <p:cNvPr id="12" name="Shape 9"/>
          <p:cNvSpPr/>
          <p:nvPr/>
        </p:nvSpPr>
        <p:spPr>
          <a:xfrm flipV="1">
            <a:off x="548640" y="2788920"/>
            <a:ext cx="3749040" cy="0"/>
          </a:xfrm>
          <a:prstGeom prst="line">
            <a:avLst/>
          </a:prstGeom>
          <a:noFill/>
          <a:ln w="9525">
            <a:solidFill>
              <a:srgbClr val="E4E4E4"/>
            </a:solidFill>
            <a:prstDash val="solid"/>
          </a:ln>
        </p:spPr>
      </p:sp>
      <p:sp>
        <p:nvSpPr>
          <p:cNvPr id="13" name="Text 10"/>
          <p:cNvSpPr/>
          <p:nvPr/>
        </p:nvSpPr>
        <p:spPr>
          <a:xfrm>
            <a:off x="548640" y="2871216"/>
            <a:ext cx="1920240" cy="329184"/>
          </a:xfrm>
          <a:prstGeom prst="rect">
            <a:avLst/>
          </a:prstGeom>
          <a:noFill/>
          <a:ln/>
        </p:spPr>
        <p:txBody>
          <a:bodyPr wrap="square" lIns="0" tIns="0" rIns="0" bIns="0" rtlCol="0" anchor="t"/>
          <a:lstStyle/>
          <a:p>
            <a:pPr algn="l" indent="0" marL="0">
              <a:buNone/>
            </a:pPr>
            <a:r>
              <a:rPr lang="en-US" sz="1400" dirty="0">
                <a:solidFill>
                  <a:srgbClr val="13161A"/>
                </a:solidFill>
                <a:latin typeface="Segoe UI" pitchFamily="34" charset="0"/>
                <a:ea typeface="Segoe UI" pitchFamily="34" charset="-122"/>
                <a:cs typeface="Segoe UI" pitchFamily="34" charset="-120"/>
              </a:rPr>
              <a:t>Gonçalo Pereira</a:t>
            </a:r>
            <a:endParaRPr lang="en-US" sz="1400" dirty="0"/>
          </a:p>
        </p:txBody>
      </p:sp>
      <p:sp>
        <p:nvSpPr>
          <p:cNvPr id="14" name="Text 11"/>
          <p:cNvSpPr/>
          <p:nvPr/>
        </p:nvSpPr>
        <p:spPr>
          <a:xfrm>
            <a:off x="2514600" y="2889504"/>
            <a:ext cx="1828800" cy="329184"/>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Präsentation</a:t>
            </a:r>
            <a:endParaRPr lang="en-US" sz="1300" dirty="0"/>
          </a:p>
        </p:txBody>
      </p:sp>
      <p:sp>
        <p:nvSpPr>
          <p:cNvPr id="15" name="Shape 12"/>
          <p:cNvSpPr/>
          <p:nvPr/>
        </p:nvSpPr>
        <p:spPr>
          <a:xfrm flipV="1">
            <a:off x="548640" y="3264408"/>
            <a:ext cx="3749040" cy="0"/>
          </a:xfrm>
          <a:prstGeom prst="line">
            <a:avLst/>
          </a:prstGeom>
          <a:noFill/>
          <a:ln w="9525">
            <a:solidFill>
              <a:srgbClr val="E4E4E4"/>
            </a:solidFill>
            <a:prstDash val="solid"/>
          </a:ln>
        </p:spPr>
      </p:sp>
      <p:sp>
        <p:nvSpPr>
          <p:cNvPr id="16" name="Text 13"/>
          <p:cNvSpPr/>
          <p:nvPr/>
        </p:nvSpPr>
        <p:spPr>
          <a:xfrm>
            <a:off x="548640" y="3346704"/>
            <a:ext cx="1920240" cy="329184"/>
          </a:xfrm>
          <a:prstGeom prst="rect">
            <a:avLst/>
          </a:prstGeom>
          <a:noFill/>
          <a:ln/>
        </p:spPr>
        <p:txBody>
          <a:bodyPr wrap="square" lIns="0" tIns="0" rIns="0" bIns="0" rtlCol="0" anchor="t"/>
          <a:lstStyle/>
          <a:p>
            <a:pPr algn="l" indent="0" marL="0">
              <a:buNone/>
            </a:pPr>
            <a:r>
              <a:rPr lang="en-US" sz="1400" dirty="0">
                <a:solidFill>
                  <a:srgbClr val="13161A"/>
                </a:solidFill>
                <a:latin typeface="Segoe UI" pitchFamily="34" charset="0"/>
                <a:ea typeface="Segoe UI" pitchFamily="34" charset="-122"/>
                <a:cs typeface="Segoe UI" pitchFamily="34" charset="-120"/>
              </a:rPr>
              <a:t>Paul Kühn</a:t>
            </a:r>
            <a:endParaRPr lang="en-US" sz="1400" dirty="0"/>
          </a:p>
        </p:txBody>
      </p:sp>
      <p:sp>
        <p:nvSpPr>
          <p:cNvPr id="17" name="Text 14"/>
          <p:cNvSpPr/>
          <p:nvPr/>
        </p:nvSpPr>
        <p:spPr>
          <a:xfrm>
            <a:off x="2514600" y="3364992"/>
            <a:ext cx="1828800" cy="329184"/>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Entwicklungsleiter</a:t>
            </a:r>
            <a:endParaRPr lang="en-US" sz="1300" dirty="0"/>
          </a:p>
        </p:txBody>
      </p:sp>
      <p:sp>
        <p:nvSpPr>
          <p:cNvPr id="18" name="Shape 15"/>
          <p:cNvSpPr/>
          <p:nvPr/>
        </p:nvSpPr>
        <p:spPr>
          <a:xfrm flipV="1">
            <a:off x="548640" y="3739896"/>
            <a:ext cx="3749040" cy="0"/>
          </a:xfrm>
          <a:prstGeom prst="line">
            <a:avLst/>
          </a:prstGeom>
          <a:noFill/>
          <a:ln w="9525">
            <a:solidFill>
              <a:srgbClr val="E4E4E4"/>
            </a:solidFill>
            <a:prstDash val="solid"/>
          </a:ln>
        </p:spPr>
      </p:sp>
      <p:sp>
        <p:nvSpPr>
          <p:cNvPr id="19" name="Text 16"/>
          <p:cNvSpPr/>
          <p:nvPr/>
        </p:nvSpPr>
        <p:spPr>
          <a:xfrm>
            <a:off x="548640" y="3822192"/>
            <a:ext cx="1920240" cy="329184"/>
          </a:xfrm>
          <a:prstGeom prst="rect">
            <a:avLst/>
          </a:prstGeom>
          <a:noFill/>
          <a:ln/>
        </p:spPr>
        <p:txBody>
          <a:bodyPr wrap="square" lIns="0" tIns="0" rIns="0" bIns="0" rtlCol="0" anchor="t"/>
          <a:lstStyle/>
          <a:p>
            <a:pPr algn="l" indent="0" marL="0">
              <a:buNone/>
            </a:pPr>
            <a:r>
              <a:rPr lang="en-US" sz="1400" dirty="0">
                <a:solidFill>
                  <a:srgbClr val="13161A"/>
                </a:solidFill>
                <a:latin typeface="Segoe UI" pitchFamily="34" charset="0"/>
                <a:ea typeface="Segoe UI" pitchFamily="34" charset="-122"/>
                <a:cs typeface="Segoe UI" pitchFamily="34" charset="-120"/>
              </a:rPr>
              <a:t>Elias Hüngerle</a:t>
            </a:r>
            <a:endParaRPr lang="en-US" sz="1400" dirty="0"/>
          </a:p>
        </p:txBody>
      </p:sp>
      <p:sp>
        <p:nvSpPr>
          <p:cNvPr id="20" name="Text 17"/>
          <p:cNvSpPr/>
          <p:nvPr/>
        </p:nvSpPr>
        <p:spPr>
          <a:xfrm>
            <a:off x="2514600" y="3840480"/>
            <a:ext cx="1828800" cy="329184"/>
          </a:xfrm>
          <a:prstGeom prst="rect">
            <a:avLst/>
          </a:prstGeom>
          <a:noFill/>
          <a:ln/>
        </p:spPr>
        <p:txBody>
          <a:bodyPr wrap="square" lIns="0" tIns="0" rIns="0" bIns="0" rtlCol="0" anchor="t"/>
          <a:lstStyle/>
          <a:p>
            <a:pPr algn="l" indent="0" marL="0">
              <a:buNone/>
            </a:pPr>
            <a:r>
              <a:rPr lang="en-US" sz="1300" dirty="0">
                <a:solidFill>
                  <a:srgbClr val="595959"/>
                </a:solidFill>
                <a:latin typeface="Segoe UI" pitchFamily="34" charset="0"/>
                <a:ea typeface="Segoe UI" pitchFamily="34" charset="-122"/>
                <a:cs typeface="Segoe UI" pitchFamily="34" charset="-120"/>
              </a:rPr>
              <a:t>Entwickler</a:t>
            </a:r>
            <a:endParaRPr lang="en-US" sz="1300" dirty="0"/>
          </a:p>
        </p:txBody>
      </p:sp>
      <p:sp>
        <p:nvSpPr>
          <p:cNvPr id="21" name="Shape 18"/>
          <p:cNvSpPr/>
          <p:nvPr/>
        </p:nvSpPr>
        <p:spPr>
          <a:xfrm flipV="1">
            <a:off x="548640" y="4215384"/>
            <a:ext cx="3749040" cy="0"/>
          </a:xfrm>
          <a:prstGeom prst="line">
            <a:avLst/>
          </a:prstGeom>
          <a:noFill/>
          <a:ln w="9525">
            <a:solidFill>
              <a:srgbClr val="E4E4E4"/>
            </a:solidFill>
            <a:prstDash val="solid"/>
          </a:ln>
        </p:spPr>
      </p:sp>
      <p:sp>
        <p:nvSpPr>
          <p:cNvPr id="22" name="Text 19"/>
          <p:cNvSpPr/>
          <p:nvPr/>
        </p:nvSpPr>
        <p:spPr>
          <a:xfrm>
            <a:off x="4846320" y="1481328"/>
            <a:ext cx="365760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Vorgehen</a:t>
            </a:r>
            <a:endParaRPr lang="en-US" sz="1400" dirty="0"/>
          </a:p>
        </p:txBody>
      </p:sp>
      <p:sp>
        <p:nvSpPr>
          <p:cNvPr id="23" name="Text 20"/>
          <p:cNvSpPr/>
          <p:nvPr/>
        </p:nvSpPr>
        <p:spPr>
          <a:xfrm>
            <a:off x="4846320" y="1920240"/>
            <a:ext cx="3749040" cy="26517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IPERKA, weil Anforderungen fix und nur 5 Projekttage</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Trello: pro Projekttag eine Liste entlang der Phasen</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Karten mit Tag-Nr., Rolle und Priorität (Must, Should, Could, Doku)</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Rollen setzen den Schwerpunkt, alle arbeiten am Code mit</a:t>
            </a:r>
            <a:endParaRPr lang="en-US" sz="1400" dirty="0"/>
          </a:p>
        </p:txBody>
      </p:sp>
      <p:sp>
        <p:nvSpPr>
          <p:cNvPr id="24" name="Text 21"/>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25" name="Shape 22"/>
          <p:cNvSpPr/>
          <p:nvPr/>
        </p:nvSpPr>
        <p:spPr>
          <a:xfrm>
            <a:off x="2148840" y="4709160"/>
            <a:ext cx="1060704" cy="22860"/>
          </a:xfrm>
          <a:prstGeom prst="rect">
            <a:avLst/>
          </a:prstGeom>
          <a:solidFill>
            <a:srgbClr val="FDB51A"/>
          </a:solidFill>
          <a:ln w="12700">
            <a:solidFill>
              <a:srgbClr val="FDB51A"/>
            </a:solidFill>
            <a:prstDash val="solid"/>
          </a:ln>
        </p:spPr>
      </p:sp>
      <p:sp>
        <p:nvSpPr>
          <p:cNvPr id="26" name="Text 23"/>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Auftrag &amp; Team</a:t>
            </a:r>
            <a:endParaRPr lang="en-US" sz="700" dirty="0"/>
          </a:p>
        </p:txBody>
      </p:sp>
      <p:sp>
        <p:nvSpPr>
          <p:cNvPr id="27" name="Shape 24"/>
          <p:cNvSpPr/>
          <p:nvPr/>
        </p:nvSpPr>
        <p:spPr>
          <a:xfrm>
            <a:off x="3282696" y="4709160"/>
            <a:ext cx="1060704" cy="22860"/>
          </a:xfrm>
          <a:prstGeom prst="rect">
            <a:avLst/>
          </a:prstGeom>
          <a:solidFill>
            <a:srgbClr val="E4E4E4"/>
          </a:solidFill>
          <a:ln w="12700">
            <a:solidFill>
              <a:srgbClr val="E4E4E4"/>
            </a:solidFill>
            <a:prstDash val="solid"/>
          </a:ln>
        </p:spPr>
      </p:sp>
      <p:sp>
        <p:nvSpPr>
          <p:cNvPr id="28" name="Text 25"/>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29" name="Shape 26"/>
          <p:cNvSpPr/>
          <p:nvPr/>
        </p:nvSpPr>
        <p:spPr>
          <a:xfrm>
            <a:off x="4416552" y="4709160"/>
            <a:ext cx="1060704" cy="22860"/>
          </a:xfrm>
          <a:prstGeom prst="rect">
            <a:avLst/>
          </a:prstGeom>
          <a:solidFill>
            <a:srgbClr val="E4E4E4"/>
          </a:solidFill>
          <a:ln w="12700">
            <a:solidFill>
              <a:srgbClr val="E4E4E4"/>
            </a:solidFill>
            <a:prstDash val="solid"/>
          </a:ln>
        </p:spPr>
      </p:sp>
      <p:sp>
        <p:nvSpPr>
          <p:cNvPr id="30" name="Text 27"/>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31" name="Shape 28"/>
          <p:cNvSpPr/>
          <p:nvPr/>
        </p:nvSpPr>
        <p:spPr>
          <a:xfrm>
            <a:off x="5550408" y="4709160"/>
            <a:ext cx="1060704" cy="22860"/>
          </a:xfrm>
          <a:prstGeom prst="rect">
            <a:avLst/>
          </a:prstGeom>
          <a:solidFill>
            <a:srgbClr val="E4E4E4"/>
          </a:solidFill>
          <a:ln w="12700">
            <a:solidFill>
              <a:srgbClr val="E4E4E4"/>
            </a:solidFill>
            <a:prstDash val="solid"/>
          </a:ln>
        </p:spPr>
      </p:sp>
      <p:sp>
        <p:nvSpPr>
          <p:cNvPr id="32" name="Text 29"/>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33" name="Shape 30"/>
          <p:cNvSpPr/>
          <p:nvPr/>
        </p:nvSpPr>
        <p:spPr>
          <a:xfrm>
            <a:off x="6684264" y="4709160"/>
            <a:ext cx="1060704" cy="22860"/>
          </a:xfrm>
          <a:prstGeom prst="rect">
            <a:avLst/>
          </a:prstGeom>
          <a:solidFill>
            <a:srgbClr val="E4E4E4"/>
          </a:solidFill>
          <a:ln w="12700">
            <a:solidFill>
              <a:srgbClr val="E4E4E4"/>
            </a:solidFill>
            <a:prstDash val="solid"/>
          </a:ln>
        </p:spPr>
      </p:sp>
      <p:sp>
        <p:nvSpPr>
          <p:cNvPr id="34" name="Text 31"/>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35" name="Text 32"/>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04</a:t>
            </a:r>
            <a:endParaRPr lang="en-US" sz="8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Messbare Ziele, priorisierte Anforderungen</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Informieren: SMART-Ziele, Pflichtenheft nach MoSCoW, Kostenkalkulation</a:t>
            </a:r>
            <a:endParaRPr lang="en-US" sz="1300" dirty="0"/>
          </a:p>
        </p:txBody>
      </p:sp>
      <p:sp>
        <p:nvSpPr>
          <p:cNvPr id="6" name="Text 3"/>
          <p:cNvSpPr/>
          <p:nvPr/>
        </p:nvSpPr>
        <p:spPr>
          <a:xfrm>
            <a:off x="548640" y="1481328"/>
            <a:ext cx="246888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Z1–Z5</a:t>
            </a:r>
            <a:endParaRPr lang="en-US" sz="3000" dirty="0"/>
          </a:p>
        </p:txBody>
      </p:sp>
      <p:sp>
        <p:nvSpPr>
          <p:cNvPr id="7" name="Text 4"/>
          <p:cNvSpPr/>
          <p:nvPr/>
        </p:nvSpPr>
        <p:spPr>
          <a:xfrm>
            <a:off x="548640" y="2029968"/>
            <a:ext cx="246888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SMART-Ziele, alle bis zur Abgabe am 02.10.2026</a:t>
            </a:r>
            <a:endParaRPr lang="en-US" sz="1100" dirty="0"/>
          </a:p>
        </p:txBody>
      </p:sp>
      <p:sp>
        <p:nvSpPr>
          <p:cNvPr id="8" name="Text 5"/>
          <p:cNvSpPr/>
          <p:nvPr/>
        </p:nvSpPr>
        <p:spPr>
          <a:xfrm>
            <a:off x="3337560" y="1481328"/>
            <a:ext cx="246888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9 / 23</a:t>
            </a:r>
            <a:endParaRPr lang="en-US" sz="3000" dirty="0"/>
          </a:p>
        </p:txBody>
      </p:sp>
      <p:sp>
        <p:nvSpPr>
          <p:cNvPr id="9" name="Text 6"/>
          <p:cNvSpPr/>
          <p:nvPr/>
        </p:nvSpPr>
        <p:spPr>
          <a:xfrm>
            <a:off x="3337560" y="2029968"/>
            <a:ext cx="246888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Must-Anforderungen (F01–F09) von allen, nach MoSCoW</a:t>
            </a:r>
            <a:endParaRPr lang="en-US" sz="1100" dirty="0"/>
          </a:p>
        </p:txBody>
      </p:sp>
      <p:sp>
        <p:nvSpPr>
          <p:cNvPr id="10" name="Text 7"/>
          <p:cNvSpPr/>
          <p:nvPr/>
        </p:nvSpPr>
        <p:spPr>
          <a:xfrm>
            <a:off x="6126480" y="1481328"/>
            <a:ext cx="246888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CHF 18'280</a:t>
            </a:r>
            <a:endParaRPr lang="en-US" sz="3000" dirty="0"/>
          </a:p>
        </p:txBody>
      </p:sp>
      <p:sp>
        <p:nvSpPr>
          <p:cNvPr id="11" name="Text 8"/>
          <p:cNvSpPr/>
          <p:nvPr/>
        </p:nvSpPr>
        <p:spPr>
          <a:xfrm>
            <a:off x="6126480" y="2029968"/>
            <a:ext cx="246888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25 Personentage, 200 h, Kleinprojekt</a:t>
            </a:r>
            <a:endParaRPr lang="en-US" sz="1100" dirty="0"/>
          </a:p>
        </p:txBody>
      </p:sp>
      <p:sp>
        <p:nvSpPr>
          <p:cNvPr id="12" name="Shape 9"/>
          <p:cNvSpPr/>
          <p:nvPr/>
        </p:nvSpPr>
        <p:spPr>
          <a:xfrm flipV="1">
            <a:off x="548640" y="2688336"/>
            <a:ext cx="8046720" cy="0"/>
          </a:xfrm>
          <a:prstGeom prst="line">
            <a:avLst/>
          </a:prstGeom>
          <a:noFill/>
          <a:ln w="9525">
            <a:solidFill>
              <a:srgbClr val="E4E4E4"/>
            </a:solidFill>
            <a:prstDash val="solid"/>
          </a:ln>
        </p:spPr>
      </p:sp>
      <p:sp>
        <p:nvSpPr>
          <p:cNvPr id="13" name="Text 10"/>
          <p:cNvSpPr/>
          <p:nvPr/>
        </p:nvSpPr>
        <p:spPr>
          <a:xfrm>
            <a:off x="548640" y="2871216"/>
            <a:ext cx="8046720" cy="164592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Import aller Testdaten in höchstens 60 Sekunden</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Zählerstände weichen an ESL-Zeitpunkten höchstens 1 kWh ab</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Daten bleiben auf dem Gerät, ausser beim ausgelösten HTTP-POST</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Fachregeln FR1–FR7, z. B. intern immer UTC, bei Duplikaten gewinnt die neuste Datei</a:t>
            </a:r>
            <a:endParaRPr lang="en-US" sz="1500" dirty="0"/>
          </a:p>
        </p:txBody>
      </p:sp>
      <p:sp>
        <p:nvSpPr>
          <p:cNvPr id="14" name="Text 11"/>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5" name="Shape 12"/>
          <p:cNvSpPr/>
          <p:nvPr/>
        </p:nvSpPr>
        <p:spPr>
          <a:xfrm>
            <a:off x="2148840" y="4709160"/>
            <a:ext cx="1060704" cy="22860"/>
          </a:xfrm>
          <a:prstGeom prst="rect">
            <a:avLst/>
          </a:prstGeom>
          <a:solidFill>
            <a:srgbClr val="E4E4E4"/>
          </a:solidFill>
          <a:ln w="12700">
            <a:solidFill>
              <a:srgbClr val="E4E4E4"/>
            </a:solidFill>
            <a:prstDash val="solid"/>
          </a:ln>
        </p:spPr>
      </p:sp>
      <p:sp>
        <p:nvSpPr>
          <p:cNvPr id="16" name="Text 13"/>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7" name="Shape 14"/>
          <p:cNvSpPr/>
          <p:nvPr/>
        </p:nvSpPr>
        <p:spPr>
          <a:xfrm>
            <a:off x="3282696" y="4709160"/>
            <a:ext cx="1060704" cy="22860"/>
          </a:xfrm>
          <a:prstGeom prst="rect">
            <a:avLst/>
          </a:prstGeom>
          <a:solidFill>
            <a:srgbClr val="FDB51A"/>
          </a:solidFill>
          <a:ln w="12700">
            <a:solidFill>
              <a:srgbClr val="FDB51A"/>
            </a:solidFill>
            <a:prstDash val="solid"/>
          </a:ln>
        </p:spPr>
      </p:sp>
      <p:sp>
        <p:nvSpPr>
          <p:cNvPr id="18" name="Text 15"/>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Planung</a:t>
            </a:r>
            <a:endParaRPr lang="en-US" sz="700" dirty="0"/>
          </a:p>
        </p:txBody>
      </p:sp>
      <p:sp>
        <p:nvSpPr>
          <p:cNvPr id="19" name="Shape 16"/>
          <p:cNvSpPr/>
          <p:nvPr/>
        </p:nvSpPr>
        <p:spPr>
          <a:xfrm>
            <a:off x="4416552" y="4709160"/>
            <a:ext cx="1060704" cy="22860"/>
          </a:xfrm>
          <a:prstGeom prst="rect">
            <a:avLst/>
          </a:prstGeom>
          <a:solidFill>
            <a:srgbClr val="E4E4E4"/>
          </a:solidFill>
          <a:ln w="12700">
            <a:solidFill>
              <a:srgbClr val="E4E4E4"/>
            </a:solidFill>
            <a:prstDash val="solid"/>
          </a:ln>
        </p:spPr>
      </p:sp>
      <p:sp>
        <p:nvSpPr>
          <p:cNvPr id="20" name="Text 17"/>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21" name="Shape 18"/>
          <p:cNvSpPr/>
          <p:nvPr/>
        </p:nvSpPr>
        <p:spPr>
          <a:xfrm>
            <a:off x="5550408" y="4709160"/>
            <a:ext cx="1060704" cy="22860"/>
          </a:xfrm>
          <a:prstGeom prst="rect">
            <a:avLst/>
          </a:prstGeom>
          <a:solidFill>
            <a:srgbClr val="E4E4E4"/>
          </a:solidFill>
          <a:ln w="12700">
            <a:solidFill>
              <a:srgbClr val="E4E4E4"/>
            </a:solidFill>
            <a:prstDash val="solid"/>
          </a:ln>
        </p:spPr>
      </p:sp>
      <p:sp>
        <p:nvSpPr>
          <p:cNvPr id="22" name="Text 19"/>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3" name="Shape 20"/>
          <p:cNvSpPr/>
          <p:nvPr/>
        </p:nvSpPr>
        <p:spPr>
          <a:xfrm>
            <a:off x="6684264" y="4709160"/>
            <a:ext cx="1060704" cy="22860"/>
          </a:xfrm>
          <a:prstGeom prst="rect">
            <a:avLst/>
          </a:prstGeom>
          <a:solidFill>
            <a:srgbClr val="E4E4E4"/>
          </a:solidFill>
          <a:ln w="12700">
            <a:solidFill>
              <a:srgbClr val="E4E4E4"/>
            </a:solidFill>
            <a:prstDash val="solid"/>
          </a:ln>
        </p:spPr>
      </p:sp>
      <p:sp>
        <p:nvSpPr>
          <p:cNvPr id="24" name="Text 21"/>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5" name="Text 22"/>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05</a:t>
            </a:r>
            <a:endParaRPr lang="en-US" sz="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Der kritische Pfad lag in der Datenlogik</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Planen: T1-5 → T2-1 → T2-2 → T2-3 / T2-4 → T3-1 / T3-2 → T4-1</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Projektstrukturplan</a:t>
            </a:r>
            <a:endParaRPr lang="en-US" sz="1400" dirty="0"/>
          </a:p>
        </p:txBody>
      </p:sp>
      <p:sp>
        <p:nvSpPr>
          <p:cNvPr id="7" name="Shape 4"/>
          <p:cNvSpPr/>
          <p:nvPr/>
        </p:nvSpPr>
        <p:spPr>
          <a:xfrm>
            <a:off x="539496" y="1856232"/>
            <a:ext cx="3858768" cy="2147065"/>
          </a:xfrm>
          <a:prstGeom prst="rect">
            <a:avLst/>
          </a:prstGeom>
          <a:solidFill>
            <a:srgbClr val="FFFFFF"/>
          </a:solidFill>
          <a:ln w="12700">
            <a:solidFill>
              <a:srgbClr val="E4E4E4"/>
            </a:solidFill>
            <a:prstDash val="solid"/>
          </a:ln>
        </p:spPr>
      </p:sp>
      <p:sp>
        <p:nvSpPr>
          <p:cNvPr id="8" name="Text 5"/>
          <p:cNvSpPr/>
          <p:nvPr/>
        </p:nvSpPr>
        <p:spPr>
          <a:xfrm>
            <a:off x="548640" y="4085593"/>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6 Teilprojekte nach IPERKA, 32 Arbeitspakete</a:t>
            </a:r>
            <a:endParaRPr lang="en-US" sz="1100" dirty="0"/>
          </a:p>
        </p:txBody>
      </p:sp>
      <p:sp>
        <p:nvSpPr>
          <p:cNvPr id="9" name="Text 6"/>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Gantt und Meilensteine</a:t>
            </a:r>
            <a:endParaRPr lang="en-US" sz="1400" dirty="0"/>
          </a:p>
        </p:txBody>
      </p:sp>
      <p:sp>
        <p:nvSpPr>
          <p:cNvPr id="10" name="Shape 7"/>
          <p:cNvSpPr/>
          <p:nvPr/>
        </p:nvSpPr>
        <p:spPr>
          <a:xfrm>
            <a:off x="5728078" y="1856232"/>
            <a:ext cx="1894084" cy="2340864"/>
          </a:xfrm>
          <a:prstGeom prst="rect">
            <a:avLst/>
          </a:prstGeom>
          <a:solidFill>
            <a:srgbClr val="FFFFFF"/>
          </a:solidFill>
          <a:ln w="12700">
            <a:solidFill>
              <a:srgbClr val="E4E4E4"/>
            </a:solidFill>
            <a:prstDash val="solid"/>
          </a:ln>
        </p:spPr>
      </p:sp>
      <p:sp>
        <p:nvSpPr>
          <p:cNvPr id="11" name="Text 8"/>
          <p:cNvSpPr/>
          <p:nvPr/>
        </p:nvSpPr>
        <p:spPr>
          <a:xfrm>
            <a:off x="4754880" y="4279392"/>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Halbtage, Farbe = Rolle · M1–M7, M5 Abgabe Fr 08:45</a:t>
            </a:r>
            <a:endParaRPr lang="en-US" sz="11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Shape 10"/>
          <p:cNvSpPr/>
          <p:nvPr/>
        </p:nvSpPr>
        <p:spPr>
          <a:xfrm>
            <a:off x="2148840" y="4709160"/>
            <a:ext cx="1060704" cy="22860"/>
          </a:xfrm>
          <a:prstGeom prst="rect">
            <a:avLst/>
          </a:prstGeom>
          <a:solidFill>
            <a:srgbClr val="E4E4E4"/>
          </a:solidFill>
          <a:ln w="12700">
            <a:solidFill>
              <a:srgbClr val="E4E4E4"/>
            </a:solidFill>
            <a:prstDash val="solid"/>
          </a:ln>
        </p:spPr>
      </p:sp>
      <p:sp>
        <p:nvSpPr>
          <p:cNvPr id="14" name="Text 1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5" name="Shape 12"/>
          <p:cNvSpPr/>
          <p:nvPr/>
        </p:nvSpPr>
        <p:spPr>
          <a:xfrm>
            <a:off x="3282696" y="4709160"/>
            <a:ext cx="1060704" cy="22860"/>
          </a:xfrm>
          <a:prstGeom prst="rect">
            <a:avLst/>
          </a:prstGeom>
          <a:solidFill>
            <a:srgbClr val="FDB51A"/>
          </a:solidFill>
          <a:ln w="12700">
            <a:solidFill>
              <a:srgbClr val="FDB51A"/>
            </a:solidFill>
            <a:prstDash val="solid"/>
          </a:ln>
        </p:spPr>
      </p:sp>
      <p:sp>
        <p:nvSpPr>
          <p:cNvPr id="16" name="Text 1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Planung</a:t>
            </a:r>
            <a:endParaRPr lang="en-US" sz="700" dirty="0"/>
          </a:p>
        </p:txBody>
      </p:sp>
      <p:sp>
        <p:nvSpPr>
          <p:cNvPr id="17" name="Shape 14"/>
          <p:cNvSpPr/>
          <p:nvPr/>
        </p:nvSpPr>
        <p:spPr>
          <a:xfrm>
            <a:off x="4416552" y="4709160"/>
            <a:ext cx="1060704" cy="22860"/>
          </a:xfrm>
          <a:prstGeom prst="rect">
            <a:avLst/>
          </a:prstGeom>
          <a:solidFill>
            <a:srgbClr val="E4E4E4"/>
          </a:solidFill>
          <a:ln w="12700">
            <a:solidFill>
              <a:srgbClr val="E4E4E4"/>
            </a:solidFill>
            <a:prstDash val="solid"/>
          </a:ln>
        </p:spPr>
      </p:sp>
      <p:sp>
        <p:nvSpPr>
          <p:cNvPr id="18" name="Text 1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19" name="Shape 16"/>
          <p:cNvSpPr/>
          <p:nvPr/>
        </p:nvSpPr>
        <p:spPr>
          <a:xfrm>
            <a:off x="5550408" y="4709160"/>
            <a:ext cx="1060704" cy="22860"/>
          </a:xfrm>
          <a:prstGeom prst="rect">
            <a:avLst/>
          </a:prstGeom>
          <a:solidFill>
            <a:srgbClr val="E4E4E4"/>
          </a:solidFill>
          <a:ln w="12700">
            <a:solidFill>
              <a:srgbClr val="E4E4E4"/>
            </a:solidFill>
            <a:prstDash val="solid"/>
          </a:ln>
        </p:spPr>
      </p:sp>
      <p:sp>
        <p:nvSpPr>
          <p:cNvPr id="20" name="Text 1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1" name="Shape 18"/>
          <p:cNvSpPr/>
          <p:nvPr/>
        </p:nvSpPr>
        <p:spPr>
          <a:xfrm>
            <a:off x="6684264" y="4709160"/>
            <a:ext cx="1060704" cy="22860"/>
          </a:xfrm>
          <a:prstGeom prst="rect">
            <a:avLst/>
          </a:prstGeom>
          <a:solidFill>
            <a:srgbClr val="E4E4E4"/>
          </a:solidFill>
          <a:ln w="12700">
            <a:solidFill>
              <a:srgbClr val="E4E4E4"/>
            </a:solidFill>
            <a:prstDash val="solid"/>
          </a:ln>
        </p:spPr>
      </p:sp>
      <p:sp>
        <p:nvSpPr>
          <p:cNvPr id="22" name="Text 1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3" name="Text 2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06</a:t>
            </a:r>
            <a:endParaRPr lang="en-US" sz="800" dirty="0"/>
          </a:p>
        </p:txBody>
      </p:sp>
      <p:pic>
        <p:nvPicPr>
          <p:cNvPr id="24" name="Image 0" descr="preencoded.png">    </p:cNvPr>
          <p:cNvPicPr>
            <a:picLocks noChangeAspect="1"/>
          </p:cNvPicPr>
          <p:nvPr/>
        </p:nvPicPr>
        <p:blipFill>
          <a:blip r:embed="rId1"/>
          <a:stretch>
            <a:fillRect/>
          </a:stretch>
        </p:blipFill>
        <p:spPr>
          <a:xfrm>
            <a:off x="548640" y="1865376"/>
            <a:ext cx="3840480" cy="2128777"/>
          </a:xfrm>
          <a:prstGeom prst="rect">
            <a:avLst/>
          </a:prstGeom>
        </p:spPr>
      </p:pic>
      <p:pic>
        <p:nvPicPr>
          <p:cNvPr id="25" name="Image 1" descr="preencoded.png">    </p:cNvPr>
          <p:cNvPicPr>
            <a:picLocks noChangeAspect="1"/>
          </p:cNvPicPr>
          <p:nvPr/>
        </p:nvPicPr>
        <p:blipFill>
          <a:blip r:embed="rId2"/>
          <a:stretch>
            <a:fillRect/>
          </a:stretch>
        </p:blipFill>
        <p:spPr>
          <a:xfrm>
            <a:off x="5737222" y="1865376"/>
            <a:ext cx="1875796" cy="2322576"/>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Drei Nutzwertanalysen, ein klarer Entscheid</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Entscheiden: Web-App mit Next.js, Diagramme mit bklit, keine Datenbank</a:t>
            </a:r>
            <a:endParaRPr lang="en-US" sz="1300" dirty="0"/>
          </a:p>
        </p:txBody>
      </p:sp>
      <p:sp>
        <p:nvSpPr>
          <p:cNvPr id="6" name="Text 3"/>
          <p:cNvSpPr/>
          <p:nvPr/>
        </p:nvSpPr>
        <p:spPr>
          <a:xfrm>
            <a:off x="548640" y="1481328"/>
            <a:ext cx="228600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Technologie-Stack</a:t>
            </a:r>
            <a:endParaRPr lang="en-US" sz="1100" dirty="0"/>
          </a:p>
        </p:txBody>
      </p:sp>
      <p:sp>
        <p:nvSpPr>
          <p:cNvPr id="7" name="Text 4"/>
          <p:cNvSpPr/>
          <p:nvPr/>
        </p:nvSpPr>
        <p:spPr>
          <a:xfrm>
            <a:off x="548640" y="1719072"/>
            <a:ext cx="2377440" cy="411480"/>
          </a:xfrm>
          <a:prstGeom prst="rect">
            <a:avLst/>
          </a:prstGeom>
          <a:noFill/>
          <a:ln/>
        </p:spPr>
        <p:txBody>
          <a:bodyPr wrap="square" lIns="0" tIns="0" rIns="0" bIns="0" rtlCol="0" anchor="t"/>
          <a:lstStyle/>
          <a:p>
            <a:pPr algn="l" indent="0" marL="0">
              <a:buNone/>
            </a:pPr>
            <a:r>
              <a:rPr lang="en-US" sz="2000" dirty="0">
                <a:solidFill>
                  <a:srgbClr val="13161A"/>
                </a:solidFill>
                <a:latin typeface="Segoe UI Semibold" pitchFamily="34" charset="0"/>
                <a:ea typeface="Segoe UI Semibold" pitchFamily="34" charset="-122"/>
                <a:cs typeface="Segoe UI Semibold" pitchFamily="34" charset="-120"/>
              </a:rPr>
              <a:t>Next.js</a:t>
            </a:r>
            <a:endParaRPr lang="en-US" sz="2000" dirty="0"/>
          </a:p>
        </p:txBody>
      </p:sp>
      <p:sp>
        <p:nvSpPr>
          <p:cNvPr id="8" name="Text 5"/>
          <p:cNvSpPr/>
          <p:nvPr/>
        </p:nvSpPr>
        <p:spPr>
          <a:xfrm>
            <a:off x="3017520" y="1719072"/>
            <a:ext cx="914400" cy="411480"/>
          </a:xfrm>
          <a:prstGeom prst="rect">
            <a:avLst/>
          </a:prstGeom>
          <a:noFill/>
          <a:ln/>
        </p:spPr>
        <p:txBody>
          <a:bodyPr wrap="square" lIns="0" tIns="0" rIns="0" bIns="0" rtlCol="0" anchor="t"/>
          <a:lstStyle/>
          <a:p>
            <a:pPr algn="l" indent="0" marL="0">
              <a:buNone/>
            </a:pPr>
            <a:r>
              <a:rPr lang="en-US" sz="2000" dirty="0">
                <a:solidFill>
                  <a:srgbClr val="FDB51A"/>
                </a:solidFill>
                <a:latin typeface="Segoe UI Semibold" pitchFamily="34" charset="0"/>
                <a:ea typeface="Segoe UI Semibold" pitchFamily="34" charset="-122"/>
                <a:cs typeface="Segoe UI Semibold" pitchFamily="34" charset="-120"/>
              </a:rPr>
              <a:t>4,10</a:t>
            </a:r>
            <a:endParaRPr lang="en-US" sz="2000" dirty="0"/>
          </a:p>
        </p:txBody>
      </p:sp>
      <p:sp>
        <p:nvSpPr>
          <p:cNvPr id="9" name="Text 6"/>
          <p:cNvSpPr/>
          <p:nvPr/>
        </p:nvSpPr>
        <p:spPr>
          <a:xfrm>
            <a:off x="548640" y="2084832"/>
            <a:ext cx="3840480" cy="237744"/>
          </a:xfrm>
          <a:prstGeom prst="rect">
            <a:avLst/>
          </a:prstGeom>
          <a:noFill/>
          <a:ln/>
        </p:spPr>
        <p:txBody>
          <a:bodyPr wrap="square" lIns="0" tIns="0" rIns="0" bIns="0" rtlCol="0" anchor="t"/>
          <a:lstStyle/>
          <a:p>
            <a:pPr algn="l" indent="0" marL="0">
              <a:buNone/>
            </a:pPr>
            <a:r>
              <a:rPr lang="en-US" sz="1000" dirty="0">
                <a:solidFill>
                  <a:srgbClr val="8A8A8A"/>
                </a:solidFill>
                <a:latin typeface="Segoe UI" pitchFamily="34" charset="0"/>
                <a:ea typeface="Segoe UI" pitchFamily="34" charset="-122"/>
                <a:cs typeface="Segoe UI" pitchFamily="34" charset="-120"/>
              </a:rPr>
              <a:t>Java 3,70 · Python 2,80</a:t>
            </a:r>
            <a:endParaRPr lang="en-US" sz="1000" dirty="0"/>
          </a:p>
        </p:txBody>
      </p:sp>
      <p:sp>
        <p:nvSpPr>
          <p:cNvPr id="10" name="Text 7"/>
          <p:cNvSpPr/>
          <p:nvPr/>
        </p:nvSpPr>
        <p:spPr>
          <a:xfrm>
            <a:off x="548640" y="2350008"/>
            <a:ext cx="228600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Diagramm-Bibliothek</a:t>
            </a:r>
            <a:endParaRPr lang="en-US" sz="1100" dirty="0"/>
          </a:p>
        </p:txBody>
      </p:sp>
      <p:sp>
        <p:nvSpPr>
          <p:cNvPr id="11" name="Text 8"/>
          <p:cNvSpPr/>
          <p:nvPr/>
        </p:nvSpPr>
        <p:spPr>
          <a:xfrm>
            <a:off x="548640" y="2587752"/>
            <a:ext cx="2377440" cy="411480"/>
          </a:xfrm>
          <a:prstGeom prst="rect">
            <a:avLst/>
          </a:prstGeom>
          <a:noFill/>
          <a:ln/>
        </p:spPr>
        <p:txBody>
          <a:bodyPr wrap="square" lIns="0" tIns="0" rIns="0" bIns="0" rtlCol="0" anchor="t"/>
          <a:lstStyle/>
          <a:p>
            <a:pPr algn="l" indent="0" marL="0">
              <a:buNone/>
            </a:pPr>
            <a:r>
              <a:rPr lang="en-US" sz="2000" dirty="0">
                <a:solidFill>
                  <a:srgbClr val="13161A"/>
                </a:solidFill>
                <a:latin typeface="Segoe UI Semibold" pitchFamily="34" charset="0"/>
                <a:ea typeface="Segoe UI Semibold" pitchFamily="34" charset="-122"/>
                <a:cs typeface="Segoe UI Semibold" pitchFamily="34" charset="-120"/>
              </a:rPr>
              <a:t>bklit</a:t>
            </a:r>
            <a:endParaRPr lang="en-US" sz="2000" dirty="0"/>
          </a:p>
        </p:txBody>
      </p:sp>
      <p:sp>
        <p:nvSpPr>
          <p:cNvPr id="12" name="Text 9"/>
          <p:cNvSpPr/>
          <p:nvPr/>
        </p:nvSpPr>
        <p:spPr>
          <a:xfrm>
            <a:off x="3017520" y="2587752"/>
            <a:ext cx="914400" cy="411480"/>
          </a:xfrm>
          <a:prstGeom prst="rect">
            <a:avLst/>
          </a:prstGeom>
          <a:noFill/>
          <a:ln/>
        </p:spPr>
        <p:txBody>
          <a:bodyPr wrap="square" lIns="0" tIns="0" rIns="0" bIns="0" rtlCol="0" anchor="t"/>
          <a:lstStyle/>
          <a:p>
            <a:pPr algn="l" indent="0" marL="0">
              <a:buNone/>
            </a:pPr>
            <a:r>
              <a:rPr lang="en-US" sz="2000" dirty="0">
                <a:solidFill>
                  <a:srgbClr val="FDB51A"/>
                </a:solidFill>
                <a:latin typeface="Segoe UI Semibold" pitchFamily="34" charset="0"/>
                <a:ea typeface="Segoe UI Semibold" pitchFamily="34" charset="-122"/>
                <a:cs typeface="Segoe UI Semibold" pitchFamily="34" charset="-120"/>
              </a:rPr>
              <a:t>3,80</a:t>
            </a:r>
            <a:endParaRPr lang="en-US" sz="2000" dirty="0"/>
          </a:p>
        </p:txBody>
      </p:sp>
      <p:sp>
        <p:nvSpPr>
          <p:cNvPr id="13" name="Text 10"/>
          <p:cNvSpPr/>
          <p:nvPr/>
        </p:nvSpPr>
        <p:spPr>
          <a:xfrm>
            <a:off x="548640" y="2953512"/>
            <a:ext cx="3840480" cy="237744"/>
          </a:xfrm>
          <a:prstGeom prst="rect">
            <a:avLst/>
          </a:prstGeom>
          <a:noFill/>
          <a:ln/>
        </p:spPr>
        <p:txBody>
          <a:bodyPr wrap="square" lIns="0" tIns="0" rIns="0" bIns="0" rtlCol="0" anchor="t"/>
          <a:lstStyle/>
          <a:p>
            <a:pPr algn="l" indent="0" marL="0">
              <a:buNone/>
            </a:pPr>
            <a:r>
              <a:rPr lang="en-US" sz="1000" dirty="0">
                <a:solidFill>
                  <a:srgbClr val="8A8A8A"/>
                </a:solidFill>
                <a:latin typeface="Segoe UI" pitchFamily="34" charset="0"/>
                <a:ea typeface="Segoe UI" pitchFamily="34" charset="-122"/>
                <a:cs typeface="Segoe UI" pitchFamily="34" charset="-120"/>
              </a:rPr>
              <a:t>ECharts 3,75</a:t>
            </a:r>
            <a:endParaRPr lang="en-US" sz="1000" dirty="0"/>
          </a:p>
        </p:txBody>
      </p:sp>
      <p:sp>
        <p:nvSpPr>
          <p:cNvPr id="14" name="Text 11"/>
          <p:cNvSpPr/>
          <p:nvPr/>
        </p:nvSpPr>
        <p:spPr>
          <a:xfrm>
            <a:off x="548640" y="3218688"/>
            <a:ext cx="228600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Datenhaltung</a:t>
            </a:r>
            <a:endParaRPr lang="en-US" sz="1100" dirty="0"/>
          </a:p>
        </p:txBody>
      </p:sp>
      <p:sp>
        <p:nvSpPr>
          <p:cNvPr id="15" name="Text 12"/>
          <p:cNvSpPr/>
          <p:nvPr/>
        </p:nvSpPr>
        <p:spPr>
          <a:xfrm>
            <a:off x="548640" y="3456432"/>
            <a:ext cx="2377440" cy="411480"/>
          </a:xfrm>
          <a:prstGeom prst="rect">
            <a:avLst/>
          </a:prstGeom>
          <a:noFill/>
          <a:ln/>
        </p:spPr>
        <p:txBody>
          <a:bodyPr wrap="square" lIns="0" tIns="0" rIns="0" bIns="0" rtlCol="0" anchor="t"/>
          <a:lstStyle/>
          <a:p>
            <a:pPr algn="l" indent="0" marL="0">
              <a:buNone/>
            </a:pPr>
            <a:r>
              <a:rPr lang="en-US" sz="2000" dirty="0">
                <a:solidFill>
                  <a:srgbClr val="13161A"/>
                </a:solidFill>
                <a:latin typeface="Segoe UI Semibold" pitchFamily="34" charset="0"/>
                <a:ea typeface="Segoe UI Semibold" pitchFamily="34" charset="-122"/>
                <a:cs typeface="Segoe UI Semibold" pitchFamily="34" charset="-120"/>
              </a:rPr>
              <a:t>keine Datenbank</a:t>
            </a:r>
            <a:endParaRPr lang="en-US" sz="2000" dirty="0"/>
          </a:p>
        </p:txBody>
      </p:sp>
      <p:sp>
        <p:nvSpPr>
          <p:cNvPr id="16" name="Text 13"/>
          <p:cNvSpPr/>
          <p:nvPr/>
        </p:nvSpPr>
        <p:spPr>
          <a:xfrm>
            <a:off x="3017520" y="3456432"/>
            <a:ext cx="914400" cy="411480"/>
          </a:xfrm>
          <a:prstGeom prst="rect">
            <a:avLst/>
          </a:prstGeom>
          <a:noFill/>
          <a:ln/>
        </p:spPr>
        <p:txBody>
          <a:bodyPr wrap="square" lIns="0" tIns="0" rIns="0" bIns="0" rtlCol="0" anchor="t"/>
          <a:lstStyle/>
          <a:p>
            <a:pPr algn="l" indent="0" marL="0">
              <a:buNone/>
            </a:pPr>
            <a:r>
              <a:rPr lang="en-US" sz="2000" dirty="0">
                <a:solidFill>
                  <a:srgbClr val="FDB51A"/>
                </a:solidFill>
                <a:latin typeface="Segoe UI Semibold" pitchFamily="34" charset="0"/>
                <a:ea typeface="Segoe UI Semibold" pitchFamily="34" charset="-122"/>
                <a:cs typeface="Segoe UI Semibold" pitchFamily="34" charset="-120"/>
              </a:rPr>
              <a:t>4,40</a:t>
            </a:r>
            <a:endParaRPr lang="en-US" sz="2000" dirty="0"/>
          </a:p>
        </p:txBody>
      </p:sp>
      <p:sp>
        <p:nvSpPr>
          <p:cNvPr id="17" name="Text 14"/>
          <p:cNvSpPr/>
          <p:nvPr/>
        </p:nvSpPr>
        <p:spPr>
          <a:xfrm>
            <a:off x="548640" y="3822192"/>
            <a:ext cx="3840480" cy="237744"/>
          </a:xfrm>
          <a:prstGeom prst="rect">
            <a:avLst/>
          </a:prstGeom>
          <a:noFill/>
          <a:ln/>
        </p:spPr>
        <p:txBody>
          <a:bodyPr wrap="square" lIns="0" tIns="0" rIns="0" bIns="0" rtlCol="0" anchor="t"/>
          <a:lstStyle/>
          <a:p>
            <a:pPr algn="l" indent="0" marL="0">
              <a:buNone/>
            </a:pPr>
            <a:r>
              <a:rPr lang="en-US" sz="1000" dirty="0">
                <a:solidFill>
                  <a:srgbClr val="8A8A8A"/>
                </a:solidFill>
                <a:latin typeface="Segoe UI" pitchFamily="34" charset="0"/>
                <a:ea typeface="Segoe UI" pitchFamily="34" charset="-122"/>
                <a:cs typeface="Segoe UI" pitchFamily="34" charset="-120"/>
              </a:rPr>
              <a:t>IndexedDB 4,10 · Server-DB 1,85</a:t>
            </a:r>
            <a:endParaRPr lang="en-US" sz="1000" dirty="0"/>
          </a:p>
        </p:txBody>
      </p:sp>
      <p:sp>
        <p:nvSpPr>
          <p:cNvPr id="18" name="Shape 15"/>
          <p:cNvSpPr/>
          <p:nvPr/>
        </p:nvSpPr>
        <p:spPr>
          <a:xfrm>
            <a:off x="5074920" y="1481328"/>
            <a:ext cx="3520440" cy="2514600"/>
          </a:xfrm>
          <a:prstGeom prst="rect">
            <a:avLst/>
          </a:prstGeom>
          <a:solidFill>
            <a:srgbClr val="F6F6F4"/>
          </a:solidFill>
          <a:ln w="12700">
            <a:solidFill>
              <a:srgbClr val="F6F6F4"/>
            </a:solidFill>
            <a:prstDash val="solid"/>
          </a:ln>
        </p:spPr>
      </p:sp>
      <p:sp>
        <p:nvSpPr>
          <p:cNvPr id="19" name="Text 16"/>
          <p:cNvSpPr/>
          <p:nvPr/>
        </p:nvSpPr>
        <p:spPr>
          <a:xfrm>
            <a:off x="5303520" y="1645920"/>
            <a:ext cx="310896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Grösste Risiken</a:t>
            </a:r>
            <a:endParaRPr lang="en-US" sz="1400" dirty="0"/>
          </a:p>
        </p:txBody>
      </p:sp>
      <p:sp>
        <p:nvSpPr>
          <p:cNvPr id="20" name="Text 17"/>
          <p:cNvSpPr/>
          <p:nvPr/>
        </p:nvSpPr>
        <p:spPr>
          <a:xfrm>
            <a:off x="5303520" y="2048256"/>
            <a:ext cx="3108960" cy="237744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rgbClr val="13161A"/>
                </a:solidFill>
                <a:latin typeface="Segoe UI" pitchFamily="34" charset="0"/>
                <a:ea typeface="Segoe UI" pitchFamily="34" charset="-122"/>
                <a:cs typeface="Segoe UI" pitchFamily="34" charset="-120"/>
              </a:rPr>
              <a:t>R1 Sensor-IDs wechseln ab 2023 (Wert 9): Richtung aus dem XML-Element, im Parser gelöst</a:t>
            </a:r>
            <a:endParaRPr lang="en-US" sz="1200" dirty="0"/>
          </a:p>
          <a:p>
            <a:pPr marL="203200" indent="-203200">
              <a:spcAft>
                <a:spcPts val="700"/>
              </a:spcAft>
              <a:buSzPct val="100000"/>
              <a:buChar char="–"/>
            </a:pPr>
            <a:r>
              <a:rPr lang="en-US" sz="1200" dirty="0">
                <a:solidFill>
                  <a:srgbClr val="13161A"/>
                </a:solidFill>
                <a:latin typeface="Segoe UI" pitchFamily="34" charset="0"/>
                <a:ea typeface="Segoe UI" pitchFamily="34" charset="-122"/>
                <a:cs typeface="Segoe UI" pitchFamily="34" charset="-120"/>
              </a:rPr>
              <a:t>R4 Diagramm-Performance (6): vorberechnete Auflösungen</a:t>
            </a:r>
            <a:endParaRPr lang="en-US" sz="1200" dirty="0"/>
          </a:p>
          <a:p>
            <a:pPr marL="203200" indent="-203200">
              <a:spcAft>
                <a:spcPts val="700"/>
              </a:spcAft>
              <a:buSzPct val="100000"/>
              <a:buChar char="–"/>
            </a:pPr>
            <a:r>
              <a:rPr lang="en-US" sz="1200" dirty="0">
                <a:solidFill>
                  <a:srgbClr val="13161A"/>
                </a:solidFill>
                <a:latin typeface="Segoe UI" pitchFamily="34" charset="0"/>
                <a:ea typeface="Segoe UI" pitchFamily="34" charset="-122"/>
                <a:cs typeface="Segoe UI" pitchFamily="34" charset="-120"/>
              </a:rPr>
              <a:t>R8 Doku bleibt liegen (6): tägliche Doku-Zeit, Feature-Stopp an Tag 5</a:t>
            </a:r>
            <a:endParaRPr lang="en-US" sz="1200" dirty="0"/>
          </a:p>
        </p:txBody>
      </p:sp>
      <p:sp>
        <p:nvSpPr>
          <p:cNvPr id="21" name="Text 18"/>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22" name="Shape 19"/>
          <p:cNvSpPr/>
          <p:nvPr/>
        </p:nvSpPr>
        <p:spPr>
          <a:xfrm>
            <a:off x="2148840" y="4709160"/>
            <a:ext cx="1060704" cy="22860"/>
          </a:xfrm>
          <a:prstGeom prst="rect">
            <a:avLst/>
          </a:prstGeom>
          <a:solidFill>
            <a:srgbClr val="E4E4E4"/>
          </a:solidFill>
          <a:ln w="12700">
            <a:solidFill>
              <a:srgbClr val="E4E4E4"/>
            </a:solidFill>
            <a:prstDash val="solid"/>
          </a:ln>
        </p:spPr>
      </p:sp>
      <p:sp>
        <p:nvSpPr>
          <p:cNvPr id="23" name="Text 20"/>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24" name="Shape 21"/>
          <p:cNvSpPr/>
          <p:nvPr/>
        </p:nvSpPr>
        <p:spPr>
          <a:xfrm>
            <a:off x="3282696" y="4709160"/>
            <a:ext cx="1060704" cy="22860"/>
          </a:xfrm>
          <a:prstGeom prst="rect">
            <a:avLst/>
          </a:prstGeom>
          <a:solidFill>
            <a:srgbClr val="FDB51A"/>
          </a:solidFill>
          <a:ln w="12700">
            <a:solidFill>
              <a:srgbClr val="FDB51A"/>
            </a:solidFill>
            <a:prstDash val="solid"/>
          </a:ln>
        </p:spPr>
      </p:sp>
      <p:sp>
        <p:nvSpPr>
          <p:cNvPr id="25" name="Text 22"/>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Planung</a:t>
            </a:r>
            <a:endParaRPr lang="en-US" sz="700" dirty="0"/>
          </a:p>
        </p:txBody>
      </p:sp>
      <p:sp>
        <p:nvSpPr>
          <p:cNvPr id="26" name="Shape 23"/>
          <p:cNvSpPr/>
          <p:nvPr/>
        </p:nvSpPr>
        <p:spPr>
          <a:xfrm>
            <a:off x="4416552" y="4709160"/>
            <a:ext cx="1060704" cy="22860"/>
          </a:xfrm>
          <a:prstGeom prst="rect">
            <a:avLst/>
          </a:prstGeom>
          <a:solidFill>
            <a:srgbClr val="E4E4E4"/>
          </a:solidFill>
          <a:ln w="12700">
            <a:solidFill>
              <a:srgbClr val="E4E4E4"/>
            </a:solidFill>
            <a:prstDash val="solid"/>
          </a:ln>
        </p:spPr>
      </p:sp>
      <p:sp>
        <p:nvSpPr>
          <p:cNvPr id="27" name="Text 24"/>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28" name="Shape 25"/>
          <p:cNvSpPr/>
          <p:nvPr/>
        </p:nvSpPr>
        <p:spPr>
          <a:xfrm>
            <a:off x="5550408" y="4709160"/>
            <a:ext cx="1060704" cy="22860"/>
          </a:xfrm>
          <a:prstGeom prst="rect">
            <a:avLst/>
          </a:prstGeom>
          <a:solidFill>
            <a:srgbClr val="E4E4E4"/>
          </a:solidFill>
          <a:ln w="12700">
            <a:solidFill>
              <a:srgbClr val="E4E4E4"/>
            </a:solidFill>
            <a:prstDash val="solid"/>
          </a:ln>
        </p:spPr>
      </p:sp>
      <p:sp>
        <p:nvSpPr>
          <p:cNvPr id="29" name="Text 26"/>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30" name="Shape 27"/>
          <p:cNvSpPr/>
          <p:nvPr/>
        </p:nvSpPr>
        <p:spPr>
          <a:xfrm>
            <a:off x="6684264" y="4709160"/>
            <a:ext cx="1060704" cy="22860"/>
          </a:xfrm>
          <a:prstGeom prst="rect">
            <a:avLst/>
          </a:prstGeom>
          <a:solidFill>
            <a:srgbClr val="E4E4E4"/>
          </a:solidFill>
          <a:ln w="12700">
            <a:solidFill>
              <a:srgbClr val="E4E4E4"/>
            </a:solidFill>
            <a:prstDash val="solid"/>
          </a:ln>
        </p:spPr>
      </p:sp>
      <p:sp>
        <p:nvSpPr>
          <p:cNvPr id="31" name="Text 28"/>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32" name="Text 29"/>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07</a:t>
            </a:r>
            <a:endParaRPr lang="en-US" sz="8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Vom Figma-Mockup zur fertigen Oberfläche</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Entwurf für alle fünf Ansichten, angepasst nach Absprache mit Herrn Bünzli</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Mockup in Figma</a:t>
            </a:r>
            <a:endParaRPr lang="en-US" sz="1400" dirty="0"/>
          </a:p>
        </p:txBody>
      </p:sp>
      <p:sp>
        <p:nvSpPr>
          <p:cNvPr id="7" name="Shape 4"/>
          <p:cNvSpPr/>
          <p:nvPr/>
        </p:nvSpPr>
        <p:spPr>
          <a:xfrm>
            <a:off x="790781" y="1856232"/>
            <a:ext cx="3356198" cy="2340864"/>
          </a:xfrm>
          <a:prstGeom prst="rect">
            <a:avLst/>
          </a:prstGeom>
          <a:solidFill>
            <a:srgbClr val="FFFFFF"/>
          </a:solidFill>
          <a:ln w="12700">
            <a:solidFill>
              <a:srgbClr val="E4E4E4"/>
            </a:solidFill>
            <a:prstDash val="solid"/>
          </a:ln>
        </p:spPr>
      </p:sp>
      <p:sp>
        <p:nvSpPr>
          <p:cNvPr id="8" name="Text 5"/>
          <p:cNvSpPr/>
          <p:nvPr/>
        </p:nvSpPr>
        <p:spPr>
          <a:xfrm>
            <a:off x="548640" y="4279392"/>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Entwurf Dashboard</a:t>
            </a:r>
            <a:endParaRPr lang="en-US" sz="1100" dirty="0"/>
          </a:p>
        </p:txBody>
      </p:sp>
      <p:sp>
        <p:nvSpPr>
          <p:cNvPr id="9" name="Text 6"/>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Umsetzung in Flux</a:t>
            </a:r>
            <a:endParaRPr lang="en-US" sz="1400" dirty="0"/>
          </a:p>
        </p:txBody>
      </p:sp>
      <p:sp>
        <p:nvSpPr>
          <p:cNvPr id="10" name="Shape 7"/>
          <p:cNvSpPr/>
          <p:nvPr/>
        </p:nvSpPr>
        <p:spPr>
          <a:xfrm>
            <a:off x="4745736" y="1856232"/>
            <a:ext cx="3858768" cy="2178558"/>
          </a:xfrm>
          <a:prstGeom prst="rect">
            <a:avLst/>
          </a:prstGeom>
          <a:solidFill>
            <a:srgbClr val="FFFFFF"/>
          </a:solidFill>
          <a:ln w="12700">
            <a:solidFill>
              <a:srgbClr val="E4E4E4"/>
            </a:solidFill>
            <a:prstDash val="solid"/>
          </a:ln>
        </p:spPr>
      </p:sp>
      <p:sp>
        <p:nvSpPr>
          <p:cNvPr id="11" name="Text 8"/>
          <p:cNvSpPr/>
          <p:nvPr/>
        </p:nvSpPr>
        <p:spPr>
          <a:xfrm>
            <a:off x="4754880" y="4117086"/>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Dashboard mit den Beispieldaten</a:t>
            </a:r>
            <a:endParaRPr lang="en-US" sz="11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Shape 10"/>
          <p:cNvSpPr/>
          <p:nvPr/>
        </p:nvSpPr>
        <p:spPr>
          <a:xfrm>
            <a:off x="2148840" y="4709160"/>
            <a:ext cx="1060704" cy="22860"/>
          </a:xfrm>
          <a:prstGeom prst="rect">
            <a:avLst/>
          </a:prstGeom>
          <a:solidFill>
            <a:srgbClr val="E4E4E4"/>
          </a:solidFill>
          <a:ln w="12700">
            <a:solidFill>
              <a:srgbClr val="E4E4E4"/>
            </a:solidFill>
            <a:prstDash val="solid"/>
          </a:ln>
        </p:spPr>
      </p:sp>
      <p:sp>
        <p:nvSpPr>
          <p:cNvPr id="14" name="Text 1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5" name="Shape 12"/>
          <p:cNvSpPr/>
          <p:nvPr/>
        </p:nvSpPr>
        <p:spPr>
          <a:xfrm>
            <a:off x="3282696" y="4709160"/>
            <a:ext cx="1060704" cy="22860"/>
          </a:xfrm>
          <a:prstGeom prst="rect">
            <a:avLst/>
          </a:prstGeom>
          <a:solidFill>
            <a:srgbClr val="FDB51A"/>
          </a:solidFill>
          <a:ln w="12700">
            <a:solidFill>
              <a:srgbClr val="FDB51A"/>
            </a:solidFill>
            <a:prstDash val="solid"/>
          </a:ln>
        </p:spPr>
      </p:sp>
      <p:sp>
        <p:nvSpPr>
          <p:cNvPr id="16" name="Text 1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Planung</a:t>
            </a:r>
            <a:endParaRPr lang="en-US" sz="700" dirty="0"/>
          </a:p>
        </p:txBody>
      </p:sp>
      <p:sp>
        <p:nvSpPr>
          <p:cNvPr id="17" name="Shape 14"/>
          <p:cNvSpPr/>
          <p:nvPr/>
        </p:nvSpPr>
        <p:spPr>
          <a:xfrm>
            <a:off x="4416552" y="4709160"/>
            <a:ext cx="1060704" cy="22860"/>
          </a:xfrm>
          <a:prstGeom prst="rect">
            <a:avLst/>
          </a:prstGeom>
          <a:solidFill>
            <a:srgbClr val="E4E4E4"/>
          </a:solidFill>
          <a:ln w="12700">
            <a:solidFill>
              <a:srgbClr val="E4E4E4"/>
            </a:solidFill>
            <a:prstDash val="solid"/>
          </a:ln>
        </p:spPr>
      </p:sp>
      <p:sp>
        <p:nvSpPr>
          <p:cNvPr id="18" name="Text 1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19" name="Shape 16"/>
          <p:cNvSpPr/>
          <p:nvPr/>
        </p:nvSpPr>
        <p:spPr>
          <a:xfrm>
            <a:off x="5550408" y="4709160"/>
            <a:ext cx="1060704" cy="22860"/>
          </a:xfrm>
          <a:prstGeom prst="rect">
            <a:avLst/>
          </a:prstGeom>
          <a:solidFill>
            <a:srgbClr val="E4E4E4"/>
          </a:solidFill>
          <a:ln w="12700">
            <a:solidFill>
              <a:srgbClr val="E4E4E4"/>
            </a:solidFill>
            <a:prstDash val="solid"/>
          </a:ln>
        </p:spPr>
      </p:sp>
      <p:sp>
        <p:nvSpPr>
          <p:cNvPr id="20" name="Text 1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1" name="Shape 18"/>
          <p:cNvSpPr/>
          <p:nvPr/>
        </p:nvSpPr>
        <p:spPr>
          <a:xfrm>
            <a:off x="6684264" y="4709160"/>
            <a:ext cx="1060704" cy="22860"/>
          </a:xfrm>
          <a:prstGeom prst="rect">
            <a:avLst/>
          </a:prstGeom>
          <a:solidFill>
            <a:srgbClr val="E4E4E4"/>
          </a:solidFill>
          <a:ln w="12700">
            <a:solidFill>
              <a:srgbClr val="E4E4E4"/>
            </a:solidFill>
            <a:prstDash val="solid"/>
          </a:ln>
        </p:spPr>
      </p:sp>
      <p:sp>
        <p:nvSpPr>
          <p:cNvPr id="22" name="Text 1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3" name="Text 2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08</a:t>
            </a:r>
            <a:endParaRPr lang="en-US" sz="800" dirty="0"/>
          </a:p>
        </p:txBody>
      </p:sp>
      <p:pic>
        <p:nvPicPr>
          <p:cNvPr id="24" name="Image 0" descr="preencoded.png">    </p:cNvPr>
          <p:cNvPicPr>
            <a:picLocks noChangeAspect="1"/>
          </p:cNvPicPr>
          <p:nvPr/>
        </p:nvPicPr>
        <p:blipFill>
          <a:blip r:embed="rId1"/>
          <a:stretch>
            <a:fillRect/>
          </a:stretch>
        </p:blipFill>
        <p:spPr>
          <a:xfrm>
            <a:off x="799925" y="1865376"/>
            <a:ext cx="3337910" cy="2322576"/>
          </a:xfrm>
          <a:prstGeom prst="rect">
            <a:avLst/>
          </a:prstGeom>
        </p:spPr>
      </p:pic>
      <p:pic>
        <p:nvPicPr>
          <p:cNvPr id="25" name="Image 1" descr="preencoded.png">    </p:cNvPr>
          <p:cNvPicPr>
            <a:picLocks noChangeAspect="1"/>
          </p:cNvPicPr>
          <p:nvPr/>
        </p:nvPicPr>
        <p:blipFill>
          <a:blip r:embed="rId2"/>
          <a:stretch>
            <a:fillRect/>
          </a:stretch>
        </p:blipFill>
        <p:spPr>
          <a:xfrm>
            <a:off x="4754880" y="1865376"/>
            <a:ext cx="3840480" cy="216027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Alles läuft im Browser, nichts verlässt den Rechner</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Realisieren: Verarbeitung in einem Web Worker, die Seiten lesen nur aus dem Data Store</a:t>
            </a:r>
            <a:endParaRPr lang="en-US" sz="1300" dirty="0"/>
          </a:p>
        </p:txBody>
      </p:sp>
      <p:sp>
        <p:nvSpPr>
          <p:cNvPr id="6" name="Shape 3"/>
          <p:cNvSpPr/>
          <p:nvPr/>
        </p:nvSpPr>
        <p:spPr>
          <a:xfrm>
            <a:off x="548640" y="1527048"/>
            <a:ext cx="1207008" cy="868680"/>
          </a:xfrm>
          <a:prstGeom prst="rect">
            <a:avLst/>
          </a:prstGeom>
          <a:solidFill>
            <a:srgbClr val="F6F6F4"/>
          </a:solidFill>
          <a:ln w="12700">
            <a:solidFill>
              <a:srgbClr val="F6F6F4"/>
            </a:solidFill>
            <a:prstDash val="solid"/>
          </a:ln>
        </p:spPr>
      </p:sp>
      <p:sp>
        <p:nvSpPr>
          <p:cNvPr id="7" name="Text 4"/>
          <p:cNvSpPr/>
          <p:nvPr/>
        </p:nvSpPr>
        <p:spPr>
          <a:xfrm>
            <a:off x="658368"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1</a:t>
            </a:r>
            <a:endParaRPr lang="en-US" sz="1000" dirty="0"/>
          </a:p>
        </p:txBody>
      </p:sp>
      <p:sp>
        <p:nvSpPr>
          <p:cNvPr id="8" name="Text 5"/>
          <p:cNvSpPr/>
          <p:nvPr/>
        </p:nvSpPr>
        <p:spPr>
          <a:xfrm>
            <a:off x="658368"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Dateien wählen</a:t>
            </a:r>
            <a:endParaRPr lang="en-US" sz="1100" dirty="0"/>
          </a:p>
        </p:txBody>
      </p:sp>
      <p:sp>
        <p:nvSpPr>
          <p:cNvPr id="9" name="Shape 6"/>
          <p:cNvSpPr/>
          <p:nvPr/>
        </p:nvSpPr>
        <p:spPr>
          <a:xfrm>
            <a:off x="1916582" y="1527048"/>
            <a:ext cx="1207008" cy="868680"/>
          </a:xfrm>
          <a:prstGeom prst="rect">
            <a:avLst/>
          </a:prstGeom>
          <a:solidFill>
            <a:srgbClr val="FDB51A"/>
          </a:solidFill>
          <a:ln w="12700">
            <a:solidFill>
              <a:srgbClr val="FDB51A"/>
            </a:solidFill>
            <a:prstDash val="solid"/>
          </a:ln>
        </p:spPr>
      </p:sp>
      <p:sp>
        <p:nvSpPr>
          <p:cNvPr id="10" name="Text 7"/>
          <p:cNvSpPr/>
          <p:nvPr/>
        </p:nvSpPr>
        <p:spPr>
          <a:xfrm>
            <a:off x="2026310"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2</a:t>
            </a:r>
            <a:endParaRPr lang="en-US" sz="1000" dirty="0"/>
          </a:p>
        </p:txBody>
      </p:sp>
      <p:sp>
        <p:nvSpPr>
          <p:cNvPr id="11" name="Text 8"/>
          <p:cNvSpPr/>
          <p:nvPr/>
        </p:nvSpPr>
        <p:spPr>
          <a:xfrm>
            <a:off x="2026310"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Web Worker</a:t>
            </a:r>
            <a:endParaRPr lang="en-US" sz="1100" dirty="0"/>
          </a:p>
        </p:txBody>
      </p:sp>
      <p:sp>
        <p:nvSpPr>
          <p:cNvPr id="12" name="Shape 9"/>
          <p:cNvSpPr/>
          <p:nvPr/>
        </p:nvSpPr>
        <p:spPr>
          <a:xfrm>
            <a:off x="3284525" y="1527048"/>
            <a:ext cx="1207008" cy="868680"/>
          </a:xfrm>
          <a:prstGeom prst="rect">
            <a:avLst/>
          </a:prstGeom>
          <a:solidFill>
            <a:srgbClr val="F6F6F4"/>
          </a:solidFill>
          <a:ln w="12700">
            <a:solidFill>
              <a:srgbClr val="F6F6F4"/>
            </a:solidFill>
            <a:prstDash val="solid"/>
          </a:ln>
        </p:spPr>
      </p:sp>
      <p:sp>
        <p:nvSpPr>
          <p:cNvPr id="13" name="Text 10"/>
          <p:cNvSpPr/>
          <p:nvPr/>
        </p:nvSpPr>
        <p:spPr>
          <a:xfrm>
            <a:off x="3394253"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3</a:t>
            </a:r>
            <a:endParaRPr lang="en-US" sz="1000" dirty="0"/>
          </a:p>
        </p:txBody>
      </p:sp>
      <p:sp>
        <p:nvSpPr>
          <p:cNvPr id="14" name="Text 11"/>
          <p:cNvSpPr/>
          <p:nvPr/>
        </p:nvSpPr>
        <p:spPr>
          <a:xfrm>
            <a:off x="3394253"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Parser sdat / ESL</a:t>
            </a:r>
            <a:endParaRPr lang="en-US" sz="1100" dirty="0"/>
          </a:p>
        </p:txBody>
      </p:sp>
      <p:sp>
        <p:nvSpPr>
          <p:cNvPr id="15" name="Shape 12"/>
          <p:cNvSpPr/>
          <p:nvPr/>
        </p:nvSpPr>
        <p:spPr>
          <a:xfrm>
            <a:off x="4652467" y="1527048"/>
            <a:ext cx="1207008" cy="868680"/>
          </a:xfrm>
          <a:prstGeom prst="rect">
            <a:avLst/>
          </a:prstGeom>
          <a:solidFill>
            <a:srgbClr val="F6F6F4"/>
          </a:solidFill>
          <a:ln w="12700">
            <a:solidFill>
              <a:srgbClr val="F6F6F4"/>
            </a:solidFill>
            <a:prstDash val="solid"/>
          </a:ln>
        </p:spPr>
      </p:sp>
      <p:sp>
        <p:nvSpPr>
          <p:cNvPr id="16" name="Text 13"/>
          <p:cNvSpPr/>
          <p:nvPr/>
        </p:nvSpPr>
        <p:spPr>
          <a:xfrm>
            <a:off x="4762195"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4</a:t>
            </a:r>
            <a:endParaRPr lang="en-US" sz="1000" dirty="0"/>
          </a:p>
        </p:txBody>
      </p:sp>
      <p:sp>
        <p:nvSpPr>
          <p:cNvPr id="17" name="Text 14"/>
          <p:cNvSpPr/>
          <p:nvPr/>
        </p:nvSpPr>
        <p:spPr>
          <a:xfrm>
            <a:off x="4762195"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Duplikate &amp; Lücken</a:t>
            </a:r>
            <a:endParaRPr lang="en-US" sz="1100" dirty="0"/>
          </a:p>
        </p:txBody>
      </p:sp>
      <p:sp>
        <p:nvSpPr>
          <p:cNvPr id="18" name="Shape 15"/>
          <p:cNvSpPr/>
          <p:nvPr/>
        </p:nvSpPr>
        <p:spPr>
          <a:xfrm>
            <a:off x="6020410" y="1527048"/>
            <a:ext cx="1207008" cy="868680"/>
          </a:xfrm>
          <a:prstGeom prst="rect">
            <a:avLst/>
          </a:prstGeom>
          <a:solidFill>
            <a:srgbClr val="F6F6F4"/>
          </a:solidFill>
          <a:ln w="12700">
            <a:solidFill>
              <a:srgbClr val="F6F6F4"/>
            </a:solidFill>
            <a:prstDash val="solid"/>
          </a:ln>
        </p:spPr>
      </p:sp>
      <p:sp>
        <p:nvSpPr>
          <p:cNvPr id="19" name="Text 16"/>
          <p:cNvSpPr/>
          <p:nvPr/>
        </p:nvSpPr>
        <p:spPr>
          <a:xfrm>
            <a:off x="6130138"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5</a:t>
            </a:r>
            <a:endParaRPr lang="en-US" sz="1000" dirty="0"/>
          </a:p>
        </p:txBody>
      </p:sp>
      <p:sp>
        <p:nvSpPr>
          <p:cNvPr id="20" name="Text 17"/>
          <p:cNvSpPr/>
          <p:nvPr/>
        </p:nvSpPr>
        <p:spPr>
          <a:xfrm>
            <a:off x="6130138"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Zählerstände &amp; Zoomstufen</a:t>
            </a:r>
            <a:endParaRPr lang="en-US" sz="1100" dirty="0"/>
          </a:p>
        </p:txBody>
      </p:sp>
      <p:sp>
        <p:nvSpPr>
          <p:cNvPr id="21" name="Shape 18"/>
          <p:cNvSpPr/>
          <p:nvPr/>
        </p:nvSpPr>
        <p:spPr>
          <a:xfrm>
            <a:off x="7388352" y="1527048"/>
            <a:ext cx="1207008" cy="868680"/>
          </a:xfrm>
          <a:prstGeom prst="rect">
            <a:avLst/>
          </a:prstGeom>
          <a:solidFill>
            <a:srgbClr val="F6F6F4"/>
          </a:solidFill>
          <a:ln w="12700">
            <a:solidFill>
              <a:srgbClr val="F6F6F4"/>
            </a:solidFill>
            <a:prstDash val="solid"/>
          </a:ln>
        </p:spPr>
      </p:sp>
      <p:sp>
        <p:nvSpPr>
          <p:cNvPr id="22" name="Text 19"/>
          <p:cNvSpPr/>
          <p:nvPr/>
        </p:nvSpPr>
        <p:spPr>
          <a:xfrm>
            <a:off x="7498080" y="1600200"/>
            <a:ext cx="365760" cy="228600"/>
          </a:xfrm>
          <a:prstGeom prst="rect">
            <a:avLst/>
          </a:prstGeom>
          <a:noFill/>
          <a:ln/>
        </p:spPr>
        <p:txBody>
          <a:bodyPr wrap="square" lIns="0" tIns="0" rIns="0" bIns="0" rtlCol="0" anchor="t"/>
          <a:lstStyle/>
          <a:p>
            <a:pPr algn="l" indent="0" marL="0">
              <a:buNone/>
            </a:pPr>
            <a:r>
              <a:rPr lang="en-US" sz="1000" dirty="0">
                <a:solidFill>
                  <a:srgbClr val="595959"/>
                </a:solidFill>
                <a:latin typeface="Segoe UI" pitchFamily="34" charset="0"/>
                <a:ea typeface="Segoe UI" pitchFamily="34" charset="-122"/>
                <a:cs typeface="Segoe UI" pitchFamily="34" charset="-120"/>
              </a:rPr>
              <a:t>6</a:t>
            </a:r>
            <a:endParaRPr lang="en-US" sz="1000" dirty="0"/>
          </a:p>
        </p:txBody>
      </p:sp>
      <p:sp>
        <p:nvSpPr>
          <p:cNvPr id="23" name="Text 20"/>
          <p:cNvSpPr/>
          <p:nvPr/>
        </p:nvSpPr>
        <p:spPr>
          <a:xfrm>
            <a:off x="7498080" y="1847088"/>
            <a:ext cx="1024128" cy="502920"/>
          </a:xfrm>
          <a:prstGeom prst="rect">
            <a:avLst/>
          </a:prstGeom>
          <a:noFill/>
          <a:ln/>
        </p:spPr>
        <p:txBody>
          <a:bodyPr wrap="square" lIns="0" tIns="0" rIns="0" bIns="0" rtlCol="0" anchor="t"/>
          <a:lstStyle/>
          <a:p>
            <a:pPr algn="l" indent="0" marL="0">
              <a:buNone/>
            </a:pPr>
            <a:r>
              <a:rPr lang="en-US" sz="1100" dirty="0">
                <a:solidFill>
                  <a:srgbClr val="13161A"/>
                </a:solidFill>
                <a:latin typeface="Segoe UI Semibold" pitchFamily="34" charset="0"/>
                <a:ea typeface="Segoe UI Semibold" pitchFamily="34" charset="-122"/>
                <a:cs typeface="Segoe UI Semibold" pitchFamily="34" charset="-120"/>
              </a:rPr>
              <a:t>Data Store → Seiten</a:t>
            </a:r>
            <a:endParaRPr lang="en-US" sz="1100" dirty="0"/>
          </a:p>
        </p:txBody>
      </p:sp>
      <p:sp>
        <p:nvSpPr>
          <p:cNvPr id="24" name="Text 21"/>
          <p:cNvSpPr/>
          <p:nvPr/>
        </p:nvSpPr>
        <p:spPr>
          <a:xfrm>
            <a:off x="548640" y="2715768"/>
            <a:ext cx="8046720" cy="17830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Web Worker hält die Oberfläche beim Import bedienbar</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Parser werfen nie: defekte Dateien landen in der Fehlerliste</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Next.js 16, React 19, TypeScript, Tailwind CSS, bklit-Diagramme auf visx</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Standards: ESLint, Prettier, automatisierte Tests mit Vitest</a:t>
            </a:r>
            <a:endParaRPr lang="en-US" sz="1400" dirty="0"/>
          </a:p>
        </p:txBody>
      </p:sp>
      <p:sp>
        <p:nvSpPr>
          <p:cNvPr id="25" name="Text 22"/>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26" name="Shape 23"/>
          <p:cNvSpPr/>
          <p:nvPr/>
        </p:nvSpPr>
        <p:spPr>
          <a:xfrm>
            <a:off x="2148840" y="4709160"/>
            <a:ext cx="1060704" cy="22860"/>
          </a:xfrm>
          <a:prstGeom prst="rect">
            <a:avLst/>
          </a:prstGeom>
          <a:solidFill>
            <a:srgbClr val="E4E4E4"/>
          </a:solidFill>
          <a:ln w="12700">
            <a:solidFill>
              <a:srgbClr val="E4E4E4"/>
            </a:solidFill>
            <a:prstDash val="solid"/>
          </a:ln>
        </p:spPr>
      </p:sp>
      <p:sp>
        <p:nvSpPr>
          <p:cNvPr id="27" name="Text 24"/>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28" name="Shape 25"/>
          <p:cNvSpPr/>
          <p:nvPr/>
        </p:nvSpPr>
        <p:spPr>
          <a:xfrm>
            <a:off x="3282696" y="4709160"/>
            <a:ext cx="1060704" cy="22860"/>
          </a:xfrm>
          <a:prstGeom prst="rect">
            <a:avLst/>
          </a:prstGeom>
          <a:solidFill>
            <a:srgbClr val="E4E4E4"/>
          </a:solidFill>
          <a:ln w="12700">
            <a:solidFill>
              <a:srgbClr val="E4E4E4"/>
            </a:solidFill>
            <a:prstDash val="solid"/>
          </a:ln>
        </p:spPr>
      </p:sp>
      <p:sp>
        <p:nvSpPr>
          <p:cNvPr id="29" name="Text 26"/>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30" name="Shape 27"/>
          <p:cNvSpPr/>
          <p:nvPr/>
        </p:nvSpPr>
        <p:spPr>
          <a:xfrm>
            <a:off x="4416552" y="4709160"/>
            <a:ext cx="1060704" cy="22860"/>
          </a:xfrm>
          <a:prstGeom prst="rect">
            <a:avLst/>
          </a:prstGeom>
          <a:solidFill>
            <a:srgbClr val="FDB51A"/>
          </a:solidFill>
          <a:ln w="12700">
            <a:solidFill>
              <a:srgbClr val="FDB51A"/>
            </a:solidFill>
            <a:prstDash val="solid"/>
          </a:ln>
        </p:spPr>
      </p:sp>
      <p:sp>
        <p:nvSpPr>
          <p:cNvPr id="31" name="Text 28"/>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Umsetzung &amp; Demo</a:t>
            </a:r>
            <a:endParaRPr lang="en-US" sz="700" dirty="0"/>
          </a:p>
        </p:txBody>
      </p:sp>
      <p:sp>
        <p:nvSpPr>
          <p:cNvPr id="32" name="Shape 29"/>
          <p:cNvSpPr/>
          <p:nvPr/>
        </p:nvSpPr>
        <p:spPr>
          <a:xfrm>
            <a:off x="5550408" y="4709160"/>
            <a:ext cx="1060704" cy="22860"/>
          </a:xfrm>
          <a:prstGeom prst="rect">
            <a:avLst/>
          </a:prstGeom>
          <a:solidFill>
            <a:srgbClr val="E4E4E4"/>
          </a:solidFill>
          <a:ln w="12700">
            <a:solidFill>
              <a:srgbClr val="E4E4E4"/>
            </a:solidFill>
            <a:prstDash val="solid"/>
          </a:ln>
        </p:spPr>
      </p:sp>
      <p:sp>
        <p:nvSpPr>
          <p:cNvPr id="33" name="Text 30"/>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34" name="Shape 31"/>
          <p:cNvSpPr/>
          <p:nvPr/>
        </p:nvSpPr>
        <p:spPr>
          <a:xfrm>
            <a:off x="6684264" y="4709160"/>
            <a:ext cx="1060704" cy="22860"/>
          </a:xfrm>
          <a:prstGeom prst="rect">
            <a:avLst/>
          </a:prstGeom>
          <a:solidFill>
            <a:srgbClr val="E4E4E4"/>
          </a:solidFill>
          <a:ln w="12700">
            <a:solidFill>
              <a:srgbClr val="E4E4E4"/>
            </a:solidFill>
            <a:prstDash val="solid"/>
          </a:ln>
        </p:spPr>
      </p:sp>
      <p:sp>
        <p:nvSpPr>
          <p:cNvPr id="35" name="Text 32"/>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36" name="Text 33"/>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09</a:t>
            </a:r>
            <a:endParaRPr lang="en-US" sz="8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Der Faktor 3: negative Zählerstände verhindert</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Problem und Lösung aus Karte T3-11</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Problem</a:t>
            </a:r>
            <a:endParaRPr lang="en-US" sz="1400" dirty="0"/>
          </a:p>
        </p:txBody>
      </p:sp>
      <p:sp>
        <p:nvSpPr>
          <p:cNvPr id="7" name="Text 4"/>
          <p:cNvSpPr/>
          <p:nvPr/>
        </p:nvSpPr>
        <p:spPr>
          <a:xfrm>
            <a:off x="54864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sdat-Summen sind etwa 3-mal so gross wie die ESL-Differenzen</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Einfaches Aufaddieren macht 2018 negativ (bis etwa −28'000 kWh)</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Systemtest T04: NOK</a:t>
            </a:r>
            <a:endParaRPr lang="en-US" sz="1400" dirty="0"/>
          </a:p>
        </p:txBody>
      </p:sp>
      <p:sp>
        <p:nvSpPr>
          <p:cNvPr id="8" name="Text 5"/>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Lösung</a:t>
            </a:r>
            <a:endParaRPr lang="en-US" sz="1400" dirty="0"/>
          </a:p>
        </p:txBody>
      </p:sp>
      <p:sp>
        <p:nvSpPr>
          <p:cNvPr id="9" name="Text 6"/>
          <p:cNvSpPr/>
          <p:nvPr/>
        </p:nvSpPr>
        <p:spPr>
          <a:xfrm>
            <a:off x="475488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Zuerst Tests geschrieben, dann die Berechnung angepasst</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sdat zwischen zwei ESL-Ablesungen skaliert, jede Ablesung wird genau getroffen</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2018 mit sdat ÷ 3 zurückgerechnet</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Nachtest T04b: OK, nie mehr negativ</a:t>
            </a:r>
            <a:endParaRPr lang="en-US" sz="1400" dirty="0"/>
          </a:p>
        </p:txBody>
      </p:sp>
      <p:sp>
        <p:nvSpPr>
          <p:cNvPr id="10" name="Shape 7"/>
          <p:cNvSpPr/>
          <p:nvPr/>
        </p:nvSpPr>
        <p:spPr>
          <a:xfrm>
            <a:off x="548640" y="3822192"/>
            <a:ext cx="8046720" cy="658368"/>
          </a:xfrm>
          <a:prstGeom prst="rect">
            <a:avLst/>
          </a:prstGeom>
          <a:solidFill>
            <a:srgbClr val="F6F6F4"/>
          </a:solidFill>
          <a:ln w="12700">
            <a:solidFill>
              <a:srgbClr val="F6F6F4"/>
            </a:solidFill>
            <a:prstDash val="solid"/>
          </a:ln>
        </p:spPr>
      </p:sp>
      <p:sp>
        <p:nvSpPr>
          <p:cNvPr id="11" name="Text 8"/>
          <p:cNvSpPr/>
          <p:nvPr/>
        </p:nvSpPr>
        <p:spPr>
          <a:xfrm>
            <a:off x="731520" y="3904488"/>
            <a:ext cx="1828800" cy="274320"/>
          </a:xfrm>
          <a:prstGeom prst="rect">
            <a:avLst/>
          </a:prstGeom>
          <a:noFill/>
          <a:ln/>
        </p:spPr>
        <p:txBody>
          <a:bodyPr wrap="square" lIns="0" tIns="0" rIns="0" bIns="0" rtlCol="0" anchor="t"/>
          <a:lstStyle/>
          <a:p>
            <a:pPr algn="l" indent="0" marL="0">
              <a:buNone/>
            </a:pPr>
            <a:r>
              <a:rPr lang="en-US" sz="1200" dirty="0">
                <a:solidFill>
                  <a:srgbClr val="13161A"/>
                </a:solidFill>
                <a:latin typeface="Segoe UI Semibold" pitchFamily="34" charset="0"/>
                <a:ea typeface="Segoe UI Semibold" pitchFamily="34" charset="-122"/>
                <a:cs typeface="Segoe UI Semibold" pitchFamily="34" charset="-120"/>
              </a:rPr>
              <a:t>Ergebnis</a:t>
            </a:r>
            <a:endParaRPr lang="en-US" sz="1200" dirty="0"/>
          </a:p>
        </p:txBody>
      </p:sp>
      <p:sp>
        <p:nvSpPr>
          <p:cNvPr id="12" name="Text 9"/>
          <p:cNvSpPr/>
          <p:nvPr/>
        </p:nvSpPr>
        <p:spPr>
          <a:xfrm>
            <a:off x="731520" y="4142232"/>
            <a:ext cx="7680960" cy="292608"/>
          </a:xfrm>
          <a:prstGeom prst="rect">
            <a:avLst/>
          </a:prstGeom>
          <a:noFill/>
          <a:ln/>
        </p:spPr>
        <p:txBody>
          <a:bodyPr wrap="square" lIns="0" tIns="0" rIns="0" bIns="0" rtlCol="0" anchor="t"/>
          <a:lstStyle/>
          <a:p>
            <a:pPr algn="l" indent="0" marL="0">
              <a:buNone/>
            </a:pPr>
            <a:r>
              <a:rPr lang="en-US" sz="1200" dirty="0">
                <a:solidFill>
                  <a:srgbClr val="13161A"/>
                </a:solidFill>
                <a:latin typeface="Segoe UI" pitchFamily="34" charset="0"/>
                <a:ea typeface="Segoe UI" pitchFamily="34" charset="-122"/>
                <a:cs typeface="Segoe UI" pitchFamily="34" charset="-120"/>
              </a:rPr>
              <a:t>Der Zählerstand steigt stetig: 2018 beginnt er bei 3'569.9 kWh (Bezug) und 6'435.3 kWh (Einspeisung)</a:t>
            </a:r>
            <a:endParaRPr lang="en-US" sz="1200" dirty="0"/>
          </a:p>
        </p:txBody>
      </p:sp>
      <p:sp>
        <p:nvSpPr>
          <p:cNvPr id="13" name="Text 10"/>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4" name="Shape 11"/>
          <p:cNvSpPr/>
          <p:nvPr/>
        </p:nvSpPr>
        <p:spPr>
          <a:xfrm>
            <a:off x="2148840" y="4709160"/>
            <a:ext cx="1060704" cy="22860"/>
          </a:xfrm>
          <a:prstGeom prst="rect">
            <a:avLst/>
          </a:prstGeom>
          <a:solidFill>
            <a:srgbClr val="E4E4E4"/>
          </a:solidFill>
          <a:ln w="12700">
            <a:solidFill>
              <a:srgbClr val="E4E4E4"/>
            </a:solidFill>
            <a:prstDash val="solid"/>
          </a:ln>
        </p:spPr>
      </p:sp>
      <p:sp>
        <p:nvSpPr>
          <p:cNvPr id="15" name="Text 12"/>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6" name="Shape 13"/>
          <p:cNvSpPr/>
          <p:nvPr/>
        </p:nvSpPr>
        <p:spPr>
          <a:xfrm>
            <a:off x="3282696" y="4709160"/>
            <a:ext cx="1060704" cy="22860"/>
          </a:xfrm>
          <a:prstGeom prst="rect">
            <a:avLst/>
          </a:prstGeom>
          <a:solidFill>
            <a:srgbClr val="E4E4E4"/>
          </a:solidFill>
          <a:ln w="12700">
            <a:solidFill>
              <a:srgbClr val="E4E4E4"/>
            </a:solidFill>
            <a:prstDash val="solid"/>
          </a:ln>
        </p:spPr>
      </p:sp>
      <p:sp>
        <p:nvSpPr>
          <p:cNvPr id="17" name="Text 14"/>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8" name="Shape 15"/>
          <p:cNvSpPr/>
          <p:nvPr/>
        </p:nvSpPr>
        <p:spPr>
          <a:xfrm>
            <a:off x="4416552" y="4709160"/>
            <a:ext cx="1060704" cy="22860"/>
          </a:xfrm>
          <a:prstGeom prst="rect">
            <a:avLst/>
          </a:prstGeom>
          <a:solidFill>
            <a:srgbClr val="FDB51A"/>
          </a:solidFill>
          <a:ln w="12700">
            <a:solidFill>
              <a:srgbClr val="FDB51A"/>
            </a:solidFill>
            <a:prstDash val="solid"/>
          </a:ln>
        </p:spPr>
      </p:sp>
      <p:sp>
        <p:nvSpPr>
          <p:cNvPr id="19" name="Text 16"/>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Umsetzung &amp; Demo</a:t>
            </a:r>
            <a:endParaRPr lang="en-US" sz="700" dirty="0"/>
          </a:p>
        </p:txBody>
      </p:sp>
      <p:sp>
        <p:nvSpPr>
          <p:cNvPr id="20" name="Shape 17"/>
          <p:cNvSpPr/>
          <p:nvPr/>
        </p:nvSpPr>
        <p:spPr>
          <a:xfrm>
            <a:off x="5550408" y="4709160"/>
            <a:ext cx="1060704" cy="22860"/>
          </a:xfrm>
          <a:prstGeom prst="rect">
            <a:avLst/>
          </a:prstGeom>
          <a:solidFill>
            <a:srgbClr val="E4E4E4"/>
          </a:solidFill>
          <a:ln w="12700">
            <a:solidFill>
              <a:srgbClr val="E4E4E4"/>
            </a:solidFill>
            <a:prstDash val="solid"/>
          </a:ln>
        </p:spPr>
      </p:sp>
      <p:sp>
        <p:nvSpPr>
          <p:cNvPr id="21" name="Text 18"/>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2" name="Shape 19"/>
          <p:cNvSpPr/>
          <p:nvPr/>
        </p:nvSpPr>
        <p:spPr>
          <a:xfrm>
            <a:off x="6684264" y="4709160"/>
            <a:ext cx="1060704" cy="22860"/>
          </a:xfrm>
          <a:prstGeom prst="rect">
            <a:avLst/>
          </a:prstGeom>
          <a:solidFill>
            <a:srgbClr val="E4E4E4"/>
          </a:solidFill>
          <a:ln w="12700">
            <a:solidFill>
              <a:srgbClr val="E4E4E4"/>
            </a:solidFill>
            <a:prstDash val="solid"/>
          </a:ln>
        </p:spPr>
      </p:sp>
      <p:sp>
        <p:nvSpPr>
          <p:cNvPr id="23" name="Text 20"/>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4" name="Text 21"/>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10</a:t>
            </a:r>
            <a:endParaRPr lang="en-US" sz="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Von 5'180 Dateien zu einer Übersicht</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Import vorher und nachher, mit den Beispieldaten des Auftraggebers</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Vorher</a:t>
            </a:r>
            <a:endParaRPr lang="en-US" sz="1400" dirty="0"/>
          </a:p>
        </p:txBody>
      </p:sp>
      <p:sp>
        <p:nvSpPr>
          <p:cNvPr id="7" name="Shape 4"/>
          <p:cNvSpPr/>
          <p:nvPr/>
        </p:nvSpPr>
        <p:spPr>
          <a:xfrm>
            <a:off x="539496" y="1856232"/>
            <a:ext cx="3858768" cy="2178558"/>
          </a:xfrm>
          <a:prstGeom prst="rect">
            <a:avLst/>
          </a:prstGeom>
          <a:solidFill>
            <a:srgbClr val="FFFFFF"/>
          </a:solidFill>
          <a:ln w="12700">
            <a:solidFill>
              <a:srgbClr val="E4E4E4"/>
            </a:solidFill>
            <a:prstDash val="solid"/>
          </a:ln>
        </p:spPr>
      </p:sp>
      <p:sp>
        <p:nvSpPr>
          <p:cNvPr id="8" name="Text 5"/>
          <p:cNvSpPr/>
          <p:nvPr/>
        </p:nvSpPr>
        <p:spPr>
          <a:xfrm>
            <a:off x="548640" y="4117086"/>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Dateien oder ganzen Ordner hineinziehen</a:t>
            </a:r>
            <a:endParaRPr lang="en-US" sz="1100" dirty="0"/>
          </a:p>
        </p:txBody>
      </p:sp>
      <p:sp>
        <p:nvSpPr>
          <p:cNvPr id="9" name="Text 6"/>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Nachher</a:t>
            </a:r>
            <a:endParaRPr lang="en-US" sz="1400" dirty="0"/>
          </a:p>
        </p:txBody>
      </p:sp>
      <p:sp>
        <p:nvSpPr>
          <p:cNvPr id="10" name="Shape 7"/>
          <p:cNvSpPr/>
          <p:nvPr/>
        </p:nvSpPr>
        <p:spPr>
          <a:xfrm>
            <a:off x="4745736" y="1856232"/>
            <a:ext cx="3858768" cy="2178558"/>
          </a:xfrm>
          <a:prstGeom prst="rect">
            <a:avLst/>
          </a:prstGeom>
          <a:solidFill>
            <a:srgbClr val="FFFFFF"/>
          </a:solidFill>
          <a:ln w="12700">
            <a:solidFill>
              <a:srgbClr val="E4E4E4"/>
            </a:solidFill>
            <a:prstDash val="solid"/>
          </a:ln>
        </p:spPr>
      </p:sp>
      <p:sp>
        <p:nvSpPr>
          <p:cNvPr id="11" name="Text 8"/>
          <p:cNvSpPr/>
          <p:nvPr/>
        </p:nvSpPr>
        <p:spPr>
          <a:xfrm>
            <a:off x="4754880" y="4117086"/>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Dateiliste, Fehler, ignorierte Sensoren, Zusammenfassung</a:t>
            </a:r>
            <a:endParaRPr lang="en-US" sz="11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Shape 10"/>
          <p:cNvSpPr/>
          <p:nvPr/>
        </p:nvSpPr>
        <p:spPr>
          <a:xfrm>
            <a:off x="2148840" y="4709160"/>
            <a:ext cx="1060704" cy="22860"/>
          </a:xfrm>
          <a:prstGeom prst="rect">
            <a:avLst/>
          </a:prstGeom>
          <a:solidFill>
            <a:srgbClr val="E4E4E4"/>
          </a:solidFill>
          <a:ln w="12700">
            <a:solidFill>
              <a:srgbClr val="E4E4E4"/>
            </a:solidFill>
            <a:prstDash val="solid"/>
          </a:ln>
        </p:spPr>
      </p:sp>
      <p:sp>
        <p:nvSpPr>
          <p:cNvPr id="14" name="Text 1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5" name="Shape 12"/>
          <p:cNvSpPr/>
          <p:nvPr/>
        </p:nvSpPr>
        <p:spPr>
          <a:xfrm>
            <a:off x="3282696" y="4709160"/>
            <a:ext cx="1060704" cy="22860"/>
          </a:xfrm>
          <a:prstGeom prst="rect">
            <a:avLst/>
          </a:prstGeom>
          <a:solidFill>
            <a:srgbClr val="E4E4E4"/>
          </a:solidFill>
          <a:ln w="12700">
            <a:solidFill>
              <a:srgbClr val="E4E4E4"/>
            </a:solidFill>
            <a:prstDash val="solid"/>
          </a:ln>
        </p:spPr>
      </p:sp>
      <p:sp>
        <p:nvSpPr>
          <p:cNvPr id="16" name="Text 1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7" name="Shape 14"/>
          <p:cNvSpPr/>
          <p:nvPr/>
        </p:nvSpPr>
        <p:spPr>
          <a:xfrm>
            <a:off x="4416552" y="4709160"/>
            <a:ext cx="1060704" cy="22860"/>
          </a:xfrm>
          <a:prstGeom prst="rect">
            <a:avLst/>
          </a:prstGeom>
          <a:solidFill>
            <a:srgbClr val="FDB51A"/>
          </a:solidFill>
          <a:ln w="12700">
            <a:solidFill>
              <a:srgbClr val="FDB51A"/>
            </a:solidFill>
            <a:prstDash val="solid"/>
          </a:ln>
        </p:spPr>
      </p:sp>
      <p:sp>
        <p:nvSpPr>
          <p:cNvPr id="18" name="Text 1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Umsetzung &amp; Demo</a:t>
            </a:r>
            <a:endParaRPr lang="en-US" sz="700" dirty="0"/>
          </a:p>
        </p:txBody>
      </p:sp>
      <p:sp>
        <p:nvSpPr>
          <p:cNvPr id="19" name="Shape 16"/>
          <p:cNvSpPr/>
          <p:nvPr/>
        </p:nvSpPr>
        <p:spPr>
          <a:xfrm>
            <a:off x="5550408" y="4709160"/>
            <a:ext cx="1060704" cy="22860"/>
          </a:xfrm>
          <a:prstGeom prst="rect">
            <a:avLst/>
          </a:prstGeom>
          <a:solidFill>
            <a:srgbClr val="E4E4E4"/>
          </a:solidFill>
          <a:ln w="12700">
            <a:solidFill>
              <a:srgbClr val="E4E4E4"/>
            </a:solidFill>
            <a:prstDash val="solid"/>
          </a:ln>
        </p:spPr>
      </p:sp>
      <p:sp>
        <p:nvSpPr>
          <p:cNvPr id="20" name="Text 1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1" name="Shape 18"/>
          <p:cNvSpPr/>
          <p:nvPr/>
        </p:nvSpPr>
        <p:spPr>
          <a:xfrm>
            <a:off x="6684264" y="4709160"/>
            <a:ext cx="1060704" cy="22860"/>
          </a:xfrm>
          <a:prstGeom prst="rect">
            <a:avLst/>
          </a:prstGeom>
          <a:solidFill>
            <a:srgbClr val="E4E4E4"/>
          </a:solidFill>
          <a:ln w="12700">
            <a:solidFill>
              <a:srgbClr val="E4E4E4"/>
            </a:solidFill>
            <a:prstDash val="solid"/>
          </a:ln>
        </p:spPr>
      </p:sp>
      <p:sp>
        <p:nvSpPr>
          <p:cNvPr id="22" name="Text 1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3" name="Text 2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11</a:t>
            </a:r>
            <a:endParaRPr lang="en-US" sz="800" dirty="0"/>
          </a:p>
        </p:txBody>
      </p:sp>
      <p:pic>
        <p:nvPicPr>
          <p:cNvPr id="24" name="Image 0" descr="preencoded.png">    </p:cNvPr>
          <p:cNvPicPr>
            <a:picLocks noChangeAspect="1"/>
          </p:cNvPicPr>
          <p:nvPr/>
        </p:nvPicPr>
        <p:blipFill>
          <a:blip r:embed="rId1"/>
          <a:stretch>
            <a:fillRect/>
          </a:stretch>
        </p:blipFill>
        <p:spPr>
          <a:xfrm>
            <a:off x="548640" y="1865376"/>
            <a:ext cx="3840480" cy="2160270"/>
          </a:xfrm>
          <a:prstGeom prst="rect">
            <a:avLst/>
          </a:prstGeom>
        </p:spPr>
      </p:pic>
      <p:pic>
        <p:nvPicPr>
          <p:cNvPr id="25" name="Image 1" descr="preencoded.png">    </p:cNvPr>
          <p:cNvPicPr>
            <a:picLocks noChangeAspect="1"/>
          </p:cNvPicPr>
          <p:nvPr/>
        </p:nvPicPr>
        <p:blipFill>
          <a:blip r:embed="rId2"/>
          <a:stretch>
            <a:fillRect/>
          </a:stretch>
        </p:blipFill>
        <p:spPr>
          <a:xfrm>
            <a:off x="4754880" y="1865376"/>
            <a:ext cx="3840480" cy="216027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Live-Demo</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Höchstens 5 Minuten · Paul klickt, Elias erklärt</a:t>
            </a:r>
            <a:endParaRPr lang="en-US" sz="1300" dirty="0"/>
          </a:p>
        </p:txBody>
      </p:sp>
      <p:sp>
        <p:nvSpPr>
          <p:cNvPr id="6" name="Text 3"/>
          <p:cNvSpPr/>
          <p:nvPr/>
        </p:nvSpPr>
        <p:spPr>
          <a:xfrm>
            <a:off x="548640" y="1527048"/>
            <a:ext cx="365760" cy="411480"/>
          </a:xfrm>
          <a:prstGeom prst="rect">
            <a:avLst/>
          </a:prstGeom>
          <a:noFill/>
          <a:ln/>
        </p:spPr>
        <p:txBody>
          <a:bodyPr wrap="square" lIns="0" tIns="0" rIns="0" bIns="0" rtlCol="0" anchor="t"/>
          <a:lstStyle/>
          <a:p>
            <a:pPr algn="l" indent="0" marL="0">
              <a:buNone/>
            </a:pPr>
            <a:r>
              <a:rPr lang="en-US" sz="1800" dirty="0">
                <a:solidFill>
                  <a:srgbClr val="FDB51A"/>
                </a:solidFill>
                <a:latin typeface="Segoe UI Semibold" pitchFamily="34" charset="0"/>
                <a:ea typeface="Segoe UI Semibold" pitchFamily="34" charset="-122"/>
                <a:cs typeface="Segoe UI Semibold" pitchFamily="34" charset="-120"/>
              </a:rPr>
              <a:t>1</a:t>
            </a:r>
            <a:endParaRPr lang="en-US" sz="1800" dirty="0"/>
          </a:p>
        </p:txBody>
      </p:sp>
      <p:sp>
        <p:nvSpPr>
          <p:cNvPr id="7" name="Text 4"/>
          <p:cNvSpPr/>
          <p:nvPr/>
        </p:nvSpPr>
        <p:spPr>
          <a:xfrm>
            <a:off x="960120" y="1554480"/>
            <a:ext cx="3291840" cy="457200"/>
          </a:xfrm>
          <a:prstGeom prst="rect">
            <a:avLst/>
          </a:prstGeom>
          <a:noFill/>
          <a:ln/>
        </p:spPr>
        <p:txBody>
          <a:bodyPr wrap="square" lIns="0" tIns="0" rIns="0" bIns="0" rtlCol="0" anchor="t"/>
          <a:lstStyle/>
          <a:p>
            <a:pPr algn="l" indent="0" marL="0">
              <a:buNone/>
            </a:pPr>
            <a:r>
              <a:rPr lang="en-US" sz="1300" dirty="0">
                <a:solidFill>
                  <a:srgbClr val="13161A"/>
                </a:solidFill>
                <a:latin typeface="Segoe UI" pitchFamily="34" charset="0"/>
                <a:ea typeface="Segoe UI" pitchFamily="34" charset="-122"/>
                <a:cs typeface="Segoe UI" pitchFamily="34" charset="-120"/>
              </a:rPr>
              <a:t>Import und Zusammenfassung</a:t>
            </a:r>
            <a:endParaRPr lang="en-US" sz="1300" dirty="0"/>
          </a:p>
        </p:txBody>
      </p:sp>
      <p:sp>
        <p:nvSpPr>
          <p:cNvPr id="8" name="Text 5"/>
          <p:cNvSpPr/>
          <p:nvPr/>
        </p:nvSpPr>
        <p:spPr>
          <a:xfrm>
            <a:off x="4114800" y="1572768"/>
            <a:ext cx="548640" cy="365760"/>
          </a:xfrm>
          <a:prstGeom prst="rect">
            <a:avLst/>
          </a:prstGeom>
          <a:noFill/>
          <a:ln/>
        </p:spPr>
        <p:txBody>
          <a:bodyPr wrap="square" lIns="0" tIns="0" rIns="0" bIns="0" rtlCol="0" anchor="t"/>
          <a:lstStyle/>
          <a:p>
            <a:pPr algn="r" indent="0" marL="0">
              <a:buNone/>
            </a:pPr>
            <a:r>
              <a:rPr lang="en-US" sz="1100" dirty="0">
                <a:solidFill>
                  <a:srgbClr val="595959"/>
                </a:solidFill>
                <a:latin typeface="Segoe UI" pitchFamily="34" charset="0"/>
                <a:ea typeface="Segoe UI" pitchFamily="34" charset="-122"/>
                <a:cs typeface="Segoe UI" pitchFamily="34" charset="-120"/>
              </a:rPr>
              <a:t>0:45</a:t>
            </a:r>
            <a:endParaRPr lang="en-US" sz="1100" dirty="0"/>
          </a:p>
        </p:txBody>
      </p:sp>
      <p:sp>
        <p:nvSpPr>
          <p:cNvPr id="9" name="Text 6"/>
          <p:cNvSpPr/>
          <p:nvPr/>
        </p:nvSpPr>
        <p:spPr>
          <a:xfrm>
            <a:off x="548640" y="2075688"/>
            <a:ext cx="365760" cy="411480"/>
          </a:xfrm>
          <a:prstGeom prst="rect">
            <a:avLst/>
          </a:prstGeom>
          <a:noFill/>
          <a:ln/>
        </p:spPr>
        <p:txBody>
          <a:bodyPr wrap="square" lIns="0" tIns="0" rIns="0" bIns="0" rtlCol="0" anchor="t"/>
          <a:lstStyle/>
          <a:p>
            <a:pPr algn="l" indent="0" marL="0">
              <a:buNone/>
            </a:pPr>
            <a:r>
              <a:rPr lang="en-US" sz="1800" dirty="0">
                <a:solidFill>
                  <a:srgbClr val="FDB51A"/>
                </a:solidFill>
                <a:latin typeface="Segoe UI Semibold" pitchFamily="34" charset="0"/>
                <a:ea typeface="Segoe UI Semibold" pitchFamily="34" charset="-122"/>
                <a:cs typeface="Segoe UI Semibold" pitchFamily="34" charset="-120"/>
              </a:rPr>
              <a:t>2</a:t>
            </a:r>
            <a:endParaRPr lang="en-US" sz="1800" dirty="0"/>
          </a:p>
        </p:txBody>
      </p:sp>
      <p:sp>
        <p:nvSpPr>
          <p:cNvPr id="10" name="Text 7"/>
          <p:cNvSpPr/>
          <p:nvPr/>
        </p:nvSpPr>
        <p:spPr>
          <a:xfrm>
            <a:off x="960120" y="2103120"/>
            <a:ext cx="3291840" cy="457200"/>
          </a:xfrm>
          <a:prstGeom prst="rect">
            <a:avLst/>
          </a:prstGeom>
          <a:noFill/>
          <a:ln/>
        </p:spPr>
        <p:txBody>
          <a:bodyPr wrap="square" lIns="0" tIns="0" rIns="0" bIns="0" rtlCol="0" anchor="t"/>
          <a:lstStyle/>
          <a:p>
            <a:pPr algn="l" indent="0" marL="0">
              <a:buNone/>
            </a:pPr>
            <a:r>
              <a:rPr lang="en-US" sz="1300" dirty="0">
                <a:solidFill>
                  <a:srgbClr val="13161A"/>
                </a:solidFill>
                <a:latin typeface="Segoe UI" pitchFamily="34" charset="0"/>
                <a:ea typeface="Segoe UI" pitchFamily="34" charset="-122"/>
                <a:cs typeface="Segoe UI" pitchFamily="34" charset="-120"/>
              </a:rPr>
              <a:t>Dashboard mit Kennzahlen und Hinweisen</a:t>
            </a:r>
            <a:endParaRPr lang="en-US" sz="1300" dirty="0"/>
          </a:p>
        </p:txBody>
      </p:sp>
      <p:sp>
        <p:nvSpPr>
          <p:cNvPr id="11" name="Text 8"/>
          <p:cNvSpPr/>
          <p:nvPr/>
        </p:nvSpPr>
        <p:spPr>
          <a:xfrm>
            <a:off x="4114800" y="2121408"/>
            <a:ext cx="548640" cy="365760"/>
          </a:xfrm>
          <a:prstGeom prst="rect">
            <a:avLst/>
          </a:prstGeom>
          <a:noFill/>
          <a:ln/>
        </p:spPr>
        <p:txBody>
          <a:bodyPr wrap="square" lIns="0" tIns="0" rIns="0" bIns="0" rtlCol="0" anchor="t"/>
          <a:lstStyle/>
          <a:p>
            <a:pPr algn="r" indent="0" marL="0">
              <a:buNone/>
            </a:pPr>
            <a:r>
              <a:rPr lang="en-US" sz="1100" dirty="0">
                <a:solidFill>
                  <a:srgbClr val="595959"/>
                </a:solidFill>
                <a:latin typeface="Segoe UI" pitchFamily="34" charset="0"/>
                <a:ea typeface="Segoe UI" pitchFamily="34" charset="-122"/>
                <a:cs typeface="Segoe UI" pitchFamily="34" charset="-120"/>
              </a:rPr>
              <a:t>0:45</a:t>
            </a:r>
            <a:endParaRPr lang="en-US" sz="1100" dirty="0"/>
          </a:p>
        </p:txBody>
      </p:sp>
      <p:sp>
        <p:nvSpPr>
          <p:cNvPr id="12" name="Text 9"/>
          <p:cNvSpPr/>
          <p:nvPr/>
        </p:nvSpPr>
        <p:spPr>
          <a:xfrm>
            <a:off x="548640" y="2624328"/>
            <a:ext cx="365760" cy="411480"/>
          </a:xfrm>
          <a:prstGeom prst="rect">
            <a:avLst/>
          </a:prstGeom>
          <a:noFill/>
          <a:ln/>
        </p:spPr>
        <p:txBody>
          <a:bodyPr wrap="square" lIns="0" tIns="0" rIns="0" bIns="0" rtlCol="0" anchor="t"/>
          <a:lstStyle/>
          <a:p>
            <a:pPr algn="l" indent="0" marL="0">
              <a:buNone/>
            </a:pPr>
            <a:r>
              <a:rPr lang="en-US" sz="1800" dirty="0">
                <a:solidFill>
                  <a:srgbClr val="FDB51A"/>
                </a:solidFill>
                <a:latin typeface="Segoe UI Semibold" pitchFamily="34" charset="0"/>
                <a:ea typeface="Segoe UI Semibold" pitchFamily="34" charset="-122"/>
                <a:cs typeface="Segoe UI Semibold" pitchFamily="34" charset="-120"/>
              </a:rPr>
              <a:t>3</a:t>
            </a:r>
            <a:endParaRPr lang="en-US" sz="1800" dirty="0"/>
          </a:p>
        </p:txBody>
      </p:sp>
      <p:sp>
        <p:nvSpPr>
          <p:cNvPr id="13" name="Text 10"/>
          <p:cNvSpPr/>
          <p:nvPr/>
        </p:nvSpPr>
        <p:spPr>
          <a:xfrm>
            <a:off x="960120" y="2651760"/>
            <a:ext cx="3291840" cy="457200"/>
          </a:xfrm>
          <a:prstGeom prst="rect">
            <a:avLst/>
          </a:prstGeom>
          <a:noFill/>
          <a:ln/>
        </p:spPr>
        <p:txBody>
          <a:bodyPr wrap="square" lIns="0" tIns="0" rIns="0" bIns="0" rtlCol="0" anchor="t"/>
          <a:lstStyle/>
          <a:p>
            <a:pPr algn="l" indent="0" marL="0">
              <a:buNone/>
            </a:pPr>
            <a:r>
              <a:rPr lang="en-US" sz="1300" dirty="0">
                <a:solidFill>
                  <a:srgbClr val="13161A"/>
                </a:solidFill>
                <a:latin typeface="Segoe UI" pitchFamily="34" charset="0"/>
                <a:ea typeface="Segoe UI" pitchFamily="34" charset="-122"/>
                <a:cs typeface="Segoe UI" pitchFamily="34" charset="-120"/>
              </a:rPr>
              <a:t>Verbrauch: Jahr → Monat → Tag (Drill-down)</a:t>
            </a:r>
            <a:endParaRPr lang="en-US" sz="1300" dirty="0"/>
          </a:p>
        </p:txBody>
      </p:sp>
      <p:sp>
        <p:nvSpPr>
          <p:cNvPr id="14" name="Text 11"/>
          <p:cNvSpPr/>
          <p:nvPr/>
        </p:nvSpPr>
        <p:spPr>
          <a:xfrm>
            <a:off x="4114800" y="2670048"/>
            <a:ext cx="548640" cy="365760"/>
          </a:xfrm>
          <a:prstGeom prst="rect">
            <a:avLst/>
          </a:prstGeom>
          <a:noFill/>
          <a:ln/>
        </p:spPr>
        <p:txBody>
          <a:bodyPr wrap="square" lIns="0" tIns="0" rIns="0" bIns="0" rtlCol="0" anchor="t"/>
          <a:lstStyle/>
          <a:p>
            <a:pPr algn="r" indent="0" marL="0">
              <a:buNone/>
            </a:pPr>
            <a:r>
              <a:rPr lang="en-US" sz="1100" dirty="0">
                <a:solidFill>
                  <a:srgbClr val="595959"/>
                </a:solidFill>
                <a:latin typeface="Segoe UI" pitchFamily="34" charset="0"/>
                <a:ea typeface="Segoe UI" pitchFamily="34" charset="-122"/>
                <a:cs typeface="Segoe UI" pitchFamily="34" charset="-120"/>
              </a:rPr>
              <a:t>1:15</a:t>
            </a:r>
            <a:endParaRPr lang="en-US" sz="1100" dirty="0"/>
          </a:p>
        </p:txBody>
      </p:sp>
      <p:sp>
        <p:nvSpPr>
          <p:cNvPr id="15" name="Text 12"/>
          <p:cNvSpPr/>
          <p:nvPr/>
        </p:nvSpPr>
        <p:spPr>
          <a:xfrm>
            <a:off x="548640" y="3172968"/>
            <a:ext cx="365760" cy="411480"/>
          </a:xfrm>
          <a:prstGeom prst="rect">
            <a:avLst/>
          </a:prstGeom>
          <a:noFill/>
          <a:ln/>
        </p:spPr>
        <p:txBody>
          <a:bodyPr wrap="square" lIns="0" tIns="0" rIns="0" bIns="0" rtlCol="0" anchor="t"/>
          <a:lstStyle/>
          <a:p>
            <a:pPr algn="l" indent="0" marL="0">
              <a:buNone/>
            </a:pPr>
            <a:r>
              <a:rPr lang="en-US" sz="1800" dirty="0">
                <a:solidFill>
                  <a:srgbClr val="FDB51A"/>
                </a:solidFill>
                <a:latin typeface="Segoe UI Semibold" pitchFamily="34" charset="0"/>
                <a:ea typeface="Segoe UI Semibold" pitchFamily="34" charset="-122"/>
                <a:cs typeface="Segoe UI Semibold" pitchFamily="34" charset="-120"/>
              </a:rPr>
              <a:t>4</a:t>
            </a:r>
            <a:endParaRPr lang="en-US" sz="1800" dirty="0"/>
          </a:p>
        </p:txBody>
      </p:sp>
      <p:sp>
        <p:nvSpPr>
          <p:cNvPr id="16" name="Text 13"/>
          <p:cNvSpPr/>
          <p:nvPr/>
        </p:nvSpPr>
        <p:spPr>
          <a:xfrm>
            <a:off x="960120" y="3200400"/>
            <a:ext cx="3291840" cy="457200"/>
          </a:xfrm>
          <a:prstGeom prst="rect">
            <a:avLst/>
          </a:prstGeom>
          <a:noFill/>
          <a:ln/>
        </p:spPr>
        <p:txBody>
          <a:bodyPr wrap="square" lIns="0" tIns="0" rIns="0" bIns="0" rtlCol="0" anchor="t"/>
          <a:lstStyle/>
          <a:p>
            <a:pPr algn="l" indent="0" marL="0">
              <a:buNone/>
            </a:pPr>
            <a:r>
              <a:rPr lang="en-US" sz="1300" dirty="0">
                <a:solidFill>
                  <a:srgbClr val="13161A"/>
                </a:solidFill>
                <a:latin typeface="Segoe UI" pitchFamily="34" charset="0"/>
                <a:ea typeface="Segoe UI" pitchFamily="34" charset="-122"/>
                <a:cs typeface="Segoe UI" pitchFamily="34" charset="-120"/>
              </a:rPr>
              <a:t>Zählerstand mit ESL-Ablesungen</a:t>
            </a:r>
            <a:endParaRPr lang="en-US" sz="1300" dirty="0"/>
          </a:p>
        </p:txBody>
      </p:sp>
      <p:sp>
        <p:nvSpPr>
          <p:cNvPr id="17" name="Text 14"/>
          <p:cNvSpPr/>
          <p:nvPr/>
        </p:nvSpPr>
        <p:spPr>
          <a:xfrm>
            <a:off x="4114800" y="3218688"/>
            <a:ext cx="548640" cy="365760"/>
          </a:xfrm>
          <a:prstGeom prst="rect">
            <a:avLst/>
          </a:prstGeom>
          <a:noFill/>
          <a:ln/>
        </p:spPr>
        <p:txBody>
          <a:bodyPr wrap="square" lIns="0" tIns="0" rIns="0" bIns="0" rtlCol="0" anchor="t"/>
          <a:lstStyle/>
          <a:p>
            <a:pPr algn="r" indent="0" marL="0">
              <a:buNone/>
            </a:pPr>
            <a:r>
              <a:rPr lang="en-US" sz="1100" dirty="0">
                <a:solidFill>
                  <a:srgbClr val="595959"/>
                </a:solidFill>
                <a:latin typeface="Segoe UI" pitchFamily="34" charset="0"/>
                <a:ea typeface="Segoe UI" pitchFamily="34" charset="-122"/>
                <a:cs typeface="Segoe UI" pitchFamily="34" charset="-120"/>
              </a:rPr>
              <a:t>0:45</a:t>
            </a:r>
            <a:endParaRPr lang="en-US" sz="1100" dirty="0"/>
          </a:p>
        </p:txBody>
      </p:sp>
      <p:sp>
        <p:nvSpPr>
          <p:cNvPr id="18" name="Text 15"/>
          <p:cNvSpPr/>
          <p:nvPr/>
        </p:nvSpPr>
        <p:spPr>
          <a:xfrm>
            <a:off x="548640" y="3721608"/>
            <a:ext cx="365760" cy="411480"/>
          </a:xfrm>
          <a:prstGeom prst="rect">
            <a:avLst/>
          </a:prstGeom>
          <a:noFill/>
          <a:ln/>
        </p:spPr>
        <p:txBody>
          <a:bodyPr wrap="square" lIns="0" tIns="0" rIns="0" bIns="0" rtlCol="0" anchor="t"/>
          <a:lstStyle/>
          <a:p>
            <a:pPr algn="l" indent="0" marL="0">
              <a:buNone/>
            </a:pPr>
            <a:r>
              <a:rPr lang="en-US" sz="1800" dirty="0">
                <a:solidFill>
                  <a:srgbClr val="FDB51A"/>
                </a:solidFill>
                <a:latin typeface="Segoe UI Semibold" pitchFamily="34" charset="0"/>
                <a:ea typeface="Segoe UI Semibold" pitchFamily="34" charset="-122"/>
                <a:cs typeface="Segoe UI Semibold" pitchFamily="34" charset="-120"/>
              </a:rPr>
              <a:t>5</a:t>
            </a:r>
            <a:endParaRPr lang="en-US" sz="1800" dirty="0"/>
          </a:p>
        </p:txBody>
      </p:sp>
      <p:sp>
        <p:nvSpPr>
          <p:cNvPr id="19" name="Text 16"/>
          <p:cNvSpPr/>
          <p:nvPr/>
        </p:nvSpPr>
        <p:spPr>
          <a:xfrm>
            <a:off x="960120" y="3749040"/>
            <a:ext cx="3291840" cy="457200"/>
          </a:xfrm>
          <a:prstGeom prst="rect">
            <a:avLst/>
          </a:prstGeom>
          <a:noFill/>
          <a:ln/>
        </p:spPr>
        <p:txBody>
          <a:bodyPr wrap="square" lIns="0" tIns="0" rIns="0" bIns="0" rtlCol="0" anchor="t"/>
          <a:lstStyle/>
          <a:p>
            <a:pPr algn="l" indent="0" marL="0">
              <a:buNone/>
            </a:pPr>
            <a:r>
              <a:rPr lang="en-US" sz="1300" dirty="0">
                <a:solidFill>
                  <a:srgbClr val="13161A"/>
                </a:solidFill>
                <a:latin typeface="Segoe UI" pitchFamily="34" charset="0"/>
                <a:ea typeface="Segoe UI" pitchFamily="34" charset="-122"/>
                <a:cs typeface="Segoe UI" pitchFamily="34" charset="-120"/>
              </a:rPr>
              <a:t>Export als CSV und JSON</a:t>
            </a:r>
            <a:endParaRPr lang="en-US" sz="1300" dirty="0"/>
          </a:p>
        </p:txBody>
      </p:sp>
      <p:sp>
        <p:nvSpPr>
          <p:cNvPr id="20" name="Text 17"/>
          <p:cNvSpPr/>
          <p:nvPr/>
        </p:nvSpPr>
        <p:spPr>
          <a:xfrm>
            <a:off x="4114800" y="3767328"/>
            <a:ext cx="548640" cy="365760"/>
          </a:xfrm>
          <a:prstGeom prst="rect">
            <a:avLst/>
          </a:prstGeom>
          <a:noFill/>
          <a:ln/>
        </p:spPr>
        <p:txBody>
          <a:bodyPr wrap="square" lIns="0" tIns="0" rIns="0" bIns="0" rtlCol="0" anchor="t"/>
          <a:lstStyle/>
          <a:p>
            <a:pPr algn="r" indent="0" marL="0">
              <a:buNone/>
            </a:pPr>
            <a:r>
              <a:rPr lang="en-US" sz="1100" dirty="0">
                <a:solidFill>
                  <a:srgbClr val="595959"/>
                </a:solidFill>
                <a:latin typeface="Segoe UI" pitchFamily="34" charset="0"/>
                <a:ea typeface="Segoe UI" pitchFamily="34" charset="-122"/>
                <a:cs typeface="Segoe UI" pitchFamily="34" charset="-120"/>
              </a:rPr>
              <a:t>0:45</a:t>
            </a:r>
            <a:endParaRPr lang="en-US" sz="1100" dirty="0"/>
          </a:p>
        </p:txBody>
      </p:sp>
      <p:sp>
        <p:nvSpPr>
          <p:cNvPr id="21" name="Shape 18"/>
          <p:cNvSpPr/>
          <p:nvPr/>
        </p:nvSpPr>
        <p:spPr>
          <a:xfrm>
            <a:off x="4837176" y="1472184"/>
            <a:ext cx="3767328" cy="2127123"/>
          </a:xfrm>
          <a:prstGeom prst="rect">
            <a:avLst/>
          </a:prstGeom>
          <a:solidFill>
            <a:srgbClr val="FFFFFF"/>
          </a:solidFill>
          <a:ln w="12700">
            <a:solidFill>
              <a:srgbClr val="E4E4E4"/>
            </a:solidFill>
            <a:prstDash val="solid"/>
          </a:ln>
        </p:spPr>
      </p:sp>
      <p:sp>
        <p:nvSpPr>
          <p:cNvPr id="22" name="Text 1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23" name="Shape 20"/>
          <p:cNvSpPr/>
          <p:nvPr/>
        </p:nvSpPr>
        <p:spPr>
          <a:xfrm>
            <a:off x="2148840" y="4709160"/>
            <a:ext cx="1060704" cy="22860"/>
          </a:xfrm>
          <a:prstGeom prst="rect">
            <a:avLst/>
          </a:prstGeom>
          <a:solidFill>
            <a:srgbClr val="E4E4E4"/>
          </a:solidFill>
          <a:ln w="12700">
            <a:solidFill>
              <a:srgbClr val="E4E4E4"/>
            </a:solidFill>
            <a:prstDash val="solid"/>
          </a:ln>
        </p:spPr>
      </p:sp>
      <p:sp>
        <p:nvSpPr>
          <p:cNvPr id="24" name="Text 2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25" name="Shape 22"/>
          <p:cNvSpPr/>
          <p:nvPr/>
        </p:nvSpPr>
        <p:spPr>
          <a:xfrm>
            <a:off x="3282696" y="4709160"/>
            <a:ext cx="1060704" cy="22860"/>
          </a:xfrm>
          <a:prstGeom prst="rect">
            <a:avLst/>
          </a:prstGeom>
          <a:solidFill>
            <a:srgbClr val="E4E4E4"/>
          </a:solidFill>
          <a:ln w="12700">
            <a:solidFill>
              <a:srgbClr val="E4E4E4"/>
            </a:solidFill>
            <a:prstDash val="solid"/>
          </a:ln>
        </p:spPr>
      </p:sp>
      <p:sp>
        <p:nvSpPr>
          <p:cNvPr id="26" name="Text 2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27" name="Shape 24"/>
          <p:cNvSpPr/>
          <p:nvPr/>
        </p:nvSpPr>
        <p:spPr>
          <a:xfrm>
            <a:off x="4416552" y="4709160"/>
            <a:ext cx="1060704" cy="22860"/>
          </a:xfrm>
          <a:prstGeom prst="rect">
            <a:avLst/>
          </a:prstGeom>
          <a:solidFill>
            <a:srgbClr val="FDB51A"/>
          </a:solidFill>
          <a:ln w="12700">
            <a:solidFill>
              <a:srgbClr val="FDB51A"/>
            </a:solidFill>
            <a:prstDash val="solid"/>
          </a:ln>
        </p:spPr>
      </p:sp>
      <p:sp>
        <p:nvSpPr>
          <p:cNvPr id="28" name="Text 2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Umsetzung &amp; Demo</a:t>
            </a:r>
            <a:endParaRPr lang="en-US" sz="700" dirty="0"/>
          </a:p>
        </p:txBody>
      </p:sp>
      <p:sp>
        <p:nvSpPr>
          <p:cNvPr id="29" name="Shape 26"/>
          <p:cNvSpPr/>
          <p:nvPr/>
        </p:nvSpPr>
        <p:spPr>
          <a:xfrm>
            <a:off x="5550408" y="4709160"/>
            <a:ext cx="1060704" cy="22860"/>
          </a:xfrm>
          <a:prstGeom prst="rect">
            <a:avLst/>
          </a:prstGeom>
          <a:solidFill>
            <a:srgbClr val="E4E4E4"/>
          </a:solidFill>
          <a:ln w="12700">
            <a:solidFill>
              <a:srgbClr val="E4E4E4"/>
            </a:solidFill>
            <a:prstDash val="solid"/>
          </a:ln>
        </p:spPr>
      </p:sp>
      <p:sp>
        <p:nvSpPr>
          <p:cNvPr id="30" name="Text 2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31" name="Shape 28"/>
          <p:cNvSpPr/>
          <p:nvPr/>
        </p:nvSpPr>
        <p:spPr>
          <a:xfrm>
            <a:off x="6684264" y="4709160"/>
            <a:ext cx="1060704" cy="22860"/>
          </a:xfrm>
          <a:prstGeom prst="rect">
            <a:avLst/>
          </a:prstGeom>
          <a:solidFill>
            <a:srgbClr val="E4E4E4"/>
          </a:solidFill>
          <a:ln w="12700">
            <a:solidFill>
              <a:srgbClr val="E4E4E4"/>
            </a:solidFill>
            <a:prstDash val="solid"/>
          </a:ln>
        </p:spPr>
      </p:sp>
      <p:sp>
        <p:nvSpPr>
          <p:cNvPr id="32" name="Text 2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33" name="Text 3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12</a:t>
            </a:r>
            <a:endParaRPr lang="en-US" sz="800" dirty="0"/>
          </a:p>
        </p:txBody>
      </p:sp>
      <p:pic>
        <p:nvPicPr>
          <p:cNvPr id="34" name="Image 0" descr="preencoded.png">    </p:cNvPr>
          <p:cNvPicPr>
            <a:picLocks noChangeAspect="1"/>
          </p:cNvPicPr>
          <p:nvPr/>
        </p:nvPicPr>
        <p:blipFill>
          <a:blip r:embed="rId1"/>
          <a:stretch>
            <a:fillRect/>
          </a:stretch>
        </p:blipFill>
        <p:spPr>
          <a:xfrm>
            <a:off x="4846320" y="1481328"/>
            <a:ext cx="3749040" cy="2108835"/>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Getestet auf zwei Ebenen</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Kontrollieren: Unit-Tests mit Vitest und Systemtests mit allen 5'180 Beispieldateien</a:t>
            </a:r>
            <a:endParaRPr lang="en-US" sz="1300" dirty="0"/>
          </a:p>
        </p:txBody>
      </p:sp>
      <p:sp>
        <p:nvSpPr>
          <p:cNvPr id="6" name="Text 3"/>
          <p:cNvSpPr/>
          <p:nvPr/>
        </p:nvSpPr>
        <p:spPr>
          <a:xfrm>
            <a:off x="548640" y="1481328"/>
            <a:ext cx="4937760" cy="3072384"/>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T01 sdat: 3'425 Dateien gelesen, 0 Fehler, 1'708 anderer Sensoren ignoriert</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T03: 31'644 Duplikate entfernt, 128'888 Platzhalter übersprungen</a:t>
            </a:r>
            <a:endParaRPr lang="en-US" sz="1500" dirty="0"/>
          </a:p>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T04 NOK (2018 negativ), nach T3-11 in T04b OK</a:t>
            </a:r>
            <a:endParaRPr lang="en-US" sz="1500" dirty="0"/>
          </a:p>
          <a:p>
            <a:pPr marL="203200" indent="-203200">
              <a:spcAft>
                <a:spcPts val="700"/>
              </a:spcAft>
              <a:buSzPct val="100000"/>
              <a:buChar char="–"/>
            </a:pPr>
            <a:r>
              <a:rPr lang="en-US" sz="1500" i="1" dirty="0">
                <a:solidFill>
                  <a:srgbClr val="C2410C"/>
                </a:solidFill>
                <a:latin typeface="Segoe UI" pitchFamily="34" charset="0"/>
                <a:ea typeface="Segoe UI" pitchFamily="34" charset="-122"/>
                <a:cs typeface="Segoe UI" pitchFamily="34" charset="-120"/>
              </a:rPr>
              <a:t>[TODO: T05–T08 (Diagramme, CSV, JSON/POST) testen und eintragen]</a:t>
            </a:r>
            <a:endParaRPr lang="en-US" sz="1500" dirty="0"/>
          </a:p>
        </p:txBody>
      </p:sp>
      <p:sp>
        <p:nvSpPr>
          <p:cNvPr id="7" name="Shape 4"/>
          <p:cNvSpPr/>
          <p:nvPr/>
        </p:nvSpPr>
        <p:spPr>
          <a:xfrm>
            <a:off x="5806440" y="1481328"/>
            <a:ext cx="2788920" cy="2423160"/>
          </a:xfrm>
          <a:prstGeom prst="rect">
            <a:avLst/>
          </a:prstGeom>
          <a:solidFill>
            <a:srgbClr val="F6F6F4"/>
          </a:solidFill>
          <a:ln w="12700">
            <a:solidFill>
              <a:srgbClr val="F6F6F4"/>
            </a:solidFill>
            <a:prstDash val="solid"/>
          </a:ln>
        </p:spPr>
      </p:sp>
      <p:sp>
        <p:nvSpPr>
          <p:cNvPr id="8" name="Text 5"/>
          <p:cNvSpPr/>
          <p:nvPr/>
        </p:nvSpPr>
        <p:spPr>
          <a:xfrm>
            <a:off x="6080760" y="1664208"/>
            <a:ext cx="237744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223</a:t>
            </a:r>
            <a:endParaRPr lang="en-US" sz="3000" dirty="0"/>
          </a:p>
        </p:txBody>
      </p:sp>
      <p:sp>
        <p:nvSpPr>
          <p:cNvPr id="9" name="Text 6"/>
          <p:cNvSpPr/>
          <p:nvPr/>
        </p:nvSpPr>
        <p:spPr>
          <a:xfrm>
            <a:off x="6080760" y="2212848"/>
            <a:ext cx="237744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automatisierte Tests in 19 Dateien, alle grün (Stand 01.10.2026)</a:t>
            </a:r>
            <a:endParaRPr lang="en-US" sz="1100" dirty="0"/>
          </a:p>
        </p:txBody>
      </p:sp>
      <p:sp>
        <p:nvSpPr>
          <p:cNvPr id="10" name="Text 7"/>
          <p:cNvSpPr/>
          <p:nvPr/>
        </p:nvSpPr>
        <p:spPr>
          <a:xfrm>
            <a:off x="6080760" y="2807208"/>
            <a:ext cx="2377440" cy="548640"/>
          </a:xfrm>
          <a:prstGeom prst="rect">
            <a:avLst/>
          </a:prstGeom>
          <a:noFill/>
          <a:ln/>
        </p:spPr>
        <p:txBody>
          <a:bodyPr wrap="square" lIns="0" tIns="0" rIns="0" bIns="0" rtlCol="0" anchor="t"/>
          <a:lstStyle/>
          <a:p>
            <a:pPr algn="l" indent="0" marL="0">
              <a:buNone/>
            </a:pPr>
            <a:r>
              <a:rPr lang="en-US" sz="3000" dirty="0">
                <a:solidFill>
                  <a:srgbClr val="13161A"/>
                </a:solidFill>
                <a:latin typeface="Segoe UI Semibold" pitchFamily="34" charset="0"/>
                <a:ea typeface="Segoe UI Semibold" pitchFamily="34" charset="-122"/>
                <a:cs typeface="Segoe UI Semibold" pitchFamily="34" charset="-120"/>
              </a:rPr>
              <a:t>5 / 4</a:t>
            </a:r>
            <a:endParaRPr lang="en-US" sz="3000" dirty="0"/>
          </a:p>
        </p:txBody>
      </p:sp>
      <p:sp>
        <p:nvSpPr>
          <p:cNvPr id="11" name="Text 8"/>
          <p:cNvSpPr/>
          <p:nvPr/>
        </p:nvSpPr>
        <p:spPr>
          <a:xfrm>
            <a:off x="6080760" y="3355848"/>
            <a:ext cx="2377440" cy="45720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Systemtests T01–T04b durchgeführt / bestanden</a:t>
            </a:r>
            <a:endParaRPr lang="en-US" sz="11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Shape 10"/>
          <p:cNvSpPr/>
          <p:nvPr/>
        </p:nvSpPr>
        <p:spPr>
          <a:xfrm>
            <a:off x="2148840" y="4709160"/>
            <a:ext cx="1060704" cy="22860"/>
          </a:xfrm>
          <a:prstGeom prst="rect">
            <a:avLst/>
          </a:prstGeom>
          <a:solidFill>
            <a:srgbClr val="E4E4E4"/>
          </a:solidFill>
          <a:ln w="12700">
            <a:solidFill>
              <a:srgbClr val="E4E4E4"/>
            </a:solidFill>
            <a:prstDash val="solid"/>
          </a:ln>
        </p:spPr>
      </p:sp>
      <p:sp>
        <p:nvSpPr>
          <p:cNvPr id="14" name="Text 1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5" name="Shape 12"/>
          <p:cNvSpPr/>
          <p:nvPr/>
        </p:nvSpPr>
        <p:spPr>
          <a:xfrm>
            <a:off x="3282696" y="4709160"/>
            <a:ext cx="1060704" cy="22860"/>
          </a:xfrm>
          <a:prstGeom prst="rect">
            <a:avLst/>
          </a:prstGeom>
          <a:solidFill>
            <a:srgbClr val="E4E4E4"/>
          </a:solidFill>
          <a:ln w="12700">
            <a:solidFill>
              <a:srgbClr val="E4E4E4"/>
            </a:solidFill>
            <a:prstDash val="solid"/>
          </a:ln>
        </p:spPr>
      </p:sp>
      <p:sp>
        <p:nvSpPr>
          <p:cNvPr id="16" name="Text 1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7" name="Shape 14"/>
          <p:cNvSpPr/>
          <p:nvPr/>
        </p:nvSpPr>
        <p:spPr>
          <a:xfrm>
            <a:off x="4416552" y="4709160"/>
            <a:ext cx="1060704" cy="22860"/>
          </a:xfrm>
          <a:prstGeom prst="rect">
            <a:avLst/>
          </a:prstGeom>
          <a:solidFill>
            <a:srgbClr val="E4E4E4"/>
          </a:solidFill>
          <a:ln w="12700">
            <a:solidFill>
              <a:srgbClr val="E4E4E4"/>
            </a:solidFill>
            <a:prstDash val="solid"/>
          </a:ln>
        </p:spPr>
      </p:sp>
      <p:sp>
        <p:nvSpPr>
          <p:cNvPr id="18" name="Text 1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19" name="Shape 16"/>
          <p:cNvSpPr/>
          <p:nvPr/>
        </p:nvSpPr>
        <p:spPr>
          <a:xfrm>
            <a:off x="5550408" y="4709160"/>
            <a:ext cx="1060704" cy="22860"/>
          </a:xfrm>
          <a:prstGeom prst="rect">
            <a:avLst/>
          </a:prstGeom>
          <a:solidFill>
            <a:srgbClr val="FDB51A"/>
          </a:solidFill>
          <a:ln w="12700">
            <a:solidFill>
              <a:srgbClr val="FDB51A"/>
            </a:solidFill>
            <a:prstDash val="solid"/>
          </a:ln>
        </p:spPr>
      </p:sp>
      <p:sp>
        <p:nvSpPr>
          <p:cNvPr id="20" name="Text 1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Kontrolle</a:t>
            </a:r>
            <a:endParaRPr lang="en-US" sz="700" dirty="0"/>
          </a:p>
        </p:txBody>
      </p:sp>
      <p:sp>
        <p:nvSpPr>
          <p:cNvPr id="21" name="Shape 18"/>
          <p:cNvSpPr/>
          <p:nvPr/>
        </p:nvSpPr>
        <p:spPr>
          <a:xfrm>
            <a:off x="6684264" y="4709160"/>
            <a:ext cx="1060704" cy="22860"/>
          </a:xfrm>
          <a:prstGeom prst="rect">
            <a:avLst/>
          </a:prstGeom>
          <a:solidFill>
            <a:srgbClr val="E4E4E4"/>
          </a:solidFill>
          <a:ln w="12700">
            <a:solidFill>
              <a:srgbClr val="E4E4E4"/>
            </a:solidFill>
            <a:prstDash val="solid"/>
          </a:ln>
        </p:spPr>
      </p:sp>
      <p:sp>
        <p:nvSpPr>
          <p:cNvPr id="22" name="Text 1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23" name="Text 2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13</a:t>
            </a:r>
            <a:endParaRPr lang="en-US" sz="8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Soll-Ist-Vergleich und Abnahme</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Kontrollieren: Ziele, Zeit und Termine gegenüber der Planung</a:t>
            </a:r>
            <a:endParaRPr lang="en-US" sz="1300" dirty="0"/>
          </a:p>
        </p:txBody>
      </p:sp>
      <p:sp>
        <p:nvSpPr>
          <p:cNvPr id="6" name="Text 3"/>
          <p:cNvSpPr/>
          <p:nvPr/>
        </p:nvSpPr>
        <p:spPr>
          <a:xfrm>
            <a:off x="548640" y="1481328"/>
            <a:ext cx="8046720" cy="3072384"/>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3161A"/>
                </a:solidFill>
                <a:latin typeface="Segoe UI" pitchFamily="34" charset="0"/>
                <a:ea typeface="Segoe UI" pitchFamily="34" charset="-122"/>
                <a:cs typeface="Segoe UI" pitchFamily="34" charset="-120"/>
              </a:rPr>
              <a:t>Umgesetzt: alle Muss-Funktionen, dazu JSON-Export, HTTP-POST, Dashboard, Drill-down und Login</a:t>
            </a:r>
            <a:endParaRPr lang="en-US" sz="1500" dirty="0"/>
          </a:p>
          <a:p>
            <a:pPr marL="203200" indent="-203200">
              <a:spcAft>
                <a:spcPts val="700"/>
              </a:spcAft>
              <a:buSzPct val="100000"/>
              <a:buChar char="–"/>
            </a:pPr>
            <a:r>
              <a:rPr lang="en-US" sz="1500" i="1" dirty="0">
                <a:solidFill>
                  <a:srgbClr val="C2410C"/>
                </a:solidFill>
                <a:latin typeface="Segoe UI" pitchFamily="34" charset="0"/>
                <a:ea typeface="Segoe UI" pitchFamily="34" charset="-122"/>
                <a:cs typeface="Segoe UI" pitchFamily="34" charset="-120"/>
              </a:rPr>
              <a:t>[TODO: Ziele Z1–Z5 erreicht? (ja / teilweise / nein)]</a:t>
            </a:r>
            <a:endParaRPr lang="en-US" sz="1500" dirty="0"/>
          </a:p>
          <a:p>
            <a:pPr marL="203200" indent="-203200">
              <a:spcAft>
                <a:spcPts val="700"/>
              </a:spcAft>
              <a:buSzPct val="100000"/>
              <a:buChar char="–"/>
            </a:pPr>
            <a:r>
              <a:rPr lang="en-US" sz="1500" i="1" dirty="0">
                <a:solidFill>
                  <a:srgbClr val="C2410C"/>
                </a:solidFill>
                <a:latin typeface="Segoe UI" pitchFamily="34" charset="0"/>
                <a:ea typeface="Segoe UI" pitchFamily="34" charset="-122"/>
                <a:cs typeface="Segoe UI" pitchFamily="34" charset="-120"/>
              </a:rPr>
              <a:t>[TODO: Ist-Stunden aus dem Arbeitsjournal gegenüber Soll]</a:t>
            </a:r>
            <a:endParaRPr lang="en-US" sz="1500" dirty="0"/>
          </a:p>
          <a:p>
            <a:pPr marL="203200" indent="-203200">
              <a:spcAft>
                <a:spcPts val="700"/>
              </a:spcAft>
              <a:buSzPct val="100000"/>
              <a:buChar char="–"/>
            </a:pPr>
            <a:r>
              <a:rPr lang="en-US" sz="1500" i="1" dirty="0">
                <a:solidFill>
                  <a:srgbClr val="C2410C"/>
                </a:solidFill>
                <a:latin typeface="Segoe UI" pitchFamily="34" charset="0"/>
                <a:ea typeface="Segoe UI" pitchFamily="34" charset="-122"/>
                <a:cs typeface="Segoe UI" pitchFamily="34" charset="-120"/>
              </a:rPr>
              <a:t>[TODO: Ist-Termine der Meilensteine M1–M7]</a:t>
            </a:r>
            <a:endParaRPr lang="en-US" sz="1500" dirty="0"/>
          </a:p>
          <a:p>
            <a:pPr marL="203200" indent="-203200">
              <a:spcAft>
                <a:spcPts val="700"/>
              </a:spcAft>
              <a:buSzPct val="100000"/>
              <a:buChar char="–"/>
            </a:pPr>
            <a:r>
              <a:rPr lang="en-US" sz="1500" i="1" dirty="0">
                <a:solidFill>
                  <a:srgbClr val="C2410C"/>
                </a:solidFill>
                <a:latin typeface="Segoe UI" pitchFamily="34" charset="0"/>
                <a:ea typeface="Segoe UI" pitchFamily="34" charset="-122"/>
                <a:cs typeface="Segoe UI" pitchFamily="34" charset="-120"/>
              </a:rPr>
              <a:t>[TODO: Abnahme durch Roger Bünzli (Datum, Entscheid)]</a:t>
            </a:r>
            <a:endParaRPr lang="en-US" sz="1500" dirty="0"/>
          </a:p>
        </p:txBody>
      </p:sp>
      <p:sp>
        <p:nvSpPr>
          <p:cNvPr id="7" name="Text 4"/>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8" name="Shape 5"/>
          <p:cNvSpPr/>
          <p:nvPr/>
        </p:nvSpPr>
        <p:spPr>
          <a:xfrm>
            <a:off x="2148840" y="4709160"/>
            <a:ext cx="1060704" cy="22860"/>
          </a:xfrm>
          <a:prstGeom prst="rect">
            <a:avLst/>
          </a:prstGeom>
          <a:solidFill>
            <a:srgbClr val="E4E4E4"/>
          </a:solidFill>
          <a:ln w="12700">
            <a:solidFill>
              <a:srgbClr val="E4E4E4"/>
            </a:solidFill>
            <a:prstDash val="solid"/>
          </a:ln>
        </p:spPr>
      </p:sp>
      <p:sp>
        <p:nvSpPr>
          <p:cNvPr id="9" name="Text 6"/>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0" name="Shape 7"/>
          <p:cNvSpPr/>
          <p:nvPr/>
        </p:nvSpPr>
        <p:spPr>
          <a:xfrm>
            <a:off x="3282696" y="4709160"/>
            <a:ext cx="1060704" cy="22860"/>
          </a:xfrm>
          <a:prstGeom prst="rect">
            <a:avLst/>
          </a:prstGeom>
          <a:solidFill>
            <a:srgbClr val="E4E4E4"/>
          </a:solidFill>
          <a:ln w="12700">
            <a:solidFill>
              <a:srgbClr val="E4E4E4"/>
            </a:solidFill>
            <a:prstDash val="solid"/>
          </a:ln>
        </p:spPr>
      </p:sp>
      <p:sp>
        <p:nvSpPr>
          <p:cNvPr id="11" name="Text 8"/>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2" name="Shape 9"/>
          <p:cNvSpPr/>
          <p:nvPr/>
        </p:nvSpPr>
        <p:spPr>
          <a:xfrm>
            <a:off x="4416552" y="4709160"/>
            <a:ext cx="1060704" cy="22860"/>
          </a:xfrm>
          <a:prstGeom prst="rect">
            <a:avLst/>
          </a:prstGeom>
          <a:solidFill>
            <a:srgbClr val="E4E4E4"/>
          </a:solidFill>
          <a:ln w="12700">
            <a:solidFill>
              <a:srgbClr val="E4E4E4"/>
            </a:solidFill>
            <a:prstDash val="solid"/>
          </a:ln>
        </p:spPr>
      </p:sp>
      <p:sp>
        <p:nvSpPr>
          <p:cNvPr id="13" name="Text 10"/>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14" name="Shape 11"/>
          <p:cNvSpPr/>
          <p:nvPr/>
        </p:nvSpPr>
        <p:spPr>
          <a:xfrm>
            <a:off x="5550408" y="4709160"/>
            <a:ext cx="1060704" cy="22860"/>
          </a:xfrm>
          <a:prstGeom prst="rect">
            <a:avLst/>
          </a:prstGeom>
          <a:solidFill>
            <a:srgbClr val="FDB51A"/>
          </a:solidFill>
          <a:ln w="12700">
            <a:solidFill>
              <a:srgbClr val="FDB51A"/>
            </a:solidFill>
            <a:prstDash val="solid"/>
          </a:ln>
        </p:spPr>
      </p:sp>
      <p:sp>
        <p:nvSpPr>
          <p:cNvPr id="15" name="Text 12"/>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Kontrolle</a:t>
            </a:r>
            <a:endParaRPr lang="en-US" sz="700" dirty="0"/>
          </a:p>
        </p:txBody>
      </p:sp>
      <p:sp>
        <p:nvSpPr>
          <p:cNvPr id="16" name="Shape 13"/>
          <p:cNvSpPr/>
          <p:nvPr/>
        </p:nvSpPr>
        <p:spPr>
          <a:xfrm>
            <a:off x="6684264" y="4709160"/>
            <a:ext cx="1060704" cy="22860"/>
          </a:xfrm>
          <a:prstGeom prst="rect">
            <a:avLst/>
          </a:prstGeom>
          <a:solidFill>
            <a:srgbClr val="E4E4E4"/>
          </a:solidFill>
          <a:ln w="12700">
            <a:solidFill>
              <a:srgbClr val="E4E4E4"/>
            </a:solidFill>
            <a:prstDash val="solid"/>
          </a:ln>
        </p:spPr>
      </p:sp>
      <p:sp>
        <p:nvSpPr>
          <p:cNvPr id="17" name="Text 14"/>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Auswertung</a:t>
            </a:r>
            <a:endParaRPr lang="en-US" sz="700" dirty="0"/>
          </a:p>
        </p:txBody>
      </p:sp>
      <p:sp>
        <p:nvSpPr>
          <p:cNvPr id="18" name="Text 15"/>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14</a:t>
            </a:r>
            <a:endParaRPr lang="en-US" sz="8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Was wir als Team mitnehmen</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Auswerten: Team-Reflexion</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Lief gut</a:t>
            </a:r>
            <a:endParaRPr lang="en-US" sz="1400" dirty="0"/>
          </a:p>
        </p:txBody>
      </p:sp>
      <p:sp>
        <p:nvSpPr>
          <p:cNvPr id="7" name="Text 4"/>
          <p:cNvSpPr/>
          <p:nvPr/>
        </p:nvSpPr>
        <p:spPr>
          <a:xfrm>
            <a:off x="54864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Aufgaben nach Stärken verteilt, alle hatten durchgehend zu tun</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Kaum Uneinigkeiten, Probleme schnell gemeinsam besprochen</a:t>
            </a:r>
            <a:endParaRPr lang="en-US" sz="1400" dirty="0"/>
          </a:p>
        </p:txBody>
      </p:sp>
      <p:sp>
        <p:nvSpPr>
          <p:cNvPr id="8" name="Text 5"/>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Lief schlecht</a:t>
            </a:r>
            <a:endParaRPr lang="en-US" sz="1400" dirty="0"/>
          </a:p>
        </p:txBody>
      </p:sp>
      <p:sp>
        <p:nvSpPr>
          <p:cNvPr id="9" name="Text 6"/>
          <p:cNvSpPr/>
          <p:nvPr/>
        </p:nvSpPr>
        <p:spPr>
          <a:xfrm>
            <a:off x="475488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Neue Technologien wie useSyncExternalStore und fast-xml-parser kosteten Einarbeitung</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Letzte Tickets dauerten länger: Zeitdruck an Tag 4 und 5</a:t>
            </a:r>
            <a:endParaRPr lang="en-US" sz="1400" dirty="0"/>
          </a:p>
        </p:txBody>
      </p:sp>
      <p:sp>
        <p:nvSpPr>
          <p:cNvPr id="10" name="Shape 7"/>
          <p:cNvSpPr/>
          <p:nvPr/>
        </p:nvSpPr>
        <p:spPr>
          <a:xfrm>
            <a:off x="548640" y="3822192"/>
            <a:ext cx="8046720" cy="658368"/>
          </a:xfrm>
          <a:prstGeom prst="rect">
            <a:avLst/>
          </a:prstGeom>
          <a:solidFill>
            <a:srgbClr val="F6F6F4"/>
          </a:solidFill>
          <a:ln w="12700">
            <a:solidFill>
              <a:srgbClr val="F6F6F4"/>
            </a:solidFill>
            <a:prstDash val="solid"/>
          </a:ln>
        </p:spPr>
      </p:sp>
      <p:sp>
        <p:nvSpPr>
          <p:cNvPr id="11" name="Text 8"/>
          <p:cNvSpPr/>
          <p:nvPr/>
        </p:nvSpPr>
        <p:spPr>
          <a:xfrm>
            <a:off x="731520" y="3904488"/>
            <a:ext cx="1828800" cy="274320"/>
          </a:xfrm>
          <a:prstGeom prst="rect">
            <a:avLst/>
          </a:prstGeom>
          <a:noFill/>
          <a:ln/>
        </p:spPr>
        <p:txBody>
          <a:bodyPr wrap="square" lIns="0" tIns="0" rIns="0" bIns="0" rtlCol="0" anchor="t"/>
          <a:lstStyle/>
          <a:p>
            <a:pPr algn="l" indent="0" marL="0">
              <a:buNone/>
            </a:pPr>
            <a:r>
              <a:rPr lang="en-US" sz="1200" dirty="0">
                <a:solidFill>
                  <a:srgbClr val="13161A"/>
                </a:solidFill>
                <a:latin typeface="Segoe UI Semibold" pitchFamily="34" charset="0"/>
                <a:ea typeface="Segoe UI Semibold" pitchFamily="34" charset="-122"/>
                <a:cs typeface="Segoe UI Semibold" pitchFamily="34" charset="-120"/>
              </a:rPr>
              <a:t>Nächstes Mal</a:t>
            </a:r>
            <a:endParaRPr lang="en-US" sz="1200" dirty="0"/>
          </a:p>
        </p:txBody>
      </p:sp>
      <p:sp>
        <p:nvSpPr>
          <p:cNvPr id="12" name="Text 9"/>
          <p:cNvSpPr/>
          <p:nvPr/>
        </p:nvSpPr>
        <p:spPr>
          <a:xfrm>
            <a:off x="731520" y="4142232"/>
            <a:ext cx="7680960" cy="292608"/>
          </a:xfrm>
          <a:prstGeom prst="rect">
            <a:avLst/>
          </a:prstGeom>
          <a:noFill/>
          <a:ln/>
        </p:spPr>
        <p:txBody>
          <a:bodyPr wrap="square" lIns="0" tIns="0" rIns="0" bIns="0" rtlCol="0" anchor="t"/>
          <a:lstStyle/>
          <a:p>
            <a:pPr algn="l" indent="0" marL="0">
              <a:buNone/>
            </a:pPr>
            <a:r>
              <a:rPr lang="en-US" sz="1200" dirty="0">
                <a:solidFill>
                  <a:srgbClr val="13161A"/>
                </a:solidFill>
                <a:latin typeface="Segoe UI" pitchFamily="34" charset="0"/>
                <a:ea typeface="Segoe UI" pitchFamily="34" charset="-122"/>
                <a:cs typeface="Segoe UI" pitchFamily="34" charset="-120"/>
              </a:rPr>
              <a:t>Zeitschätzungen auf den Trello-Karten, schwierige Tickets früher, Zeitpuffer für die letzten Tage, kurzes Daily</a:t>
            </a:r>
            <a:endParaRPr lang="en-US" sz="1200" dirty="0"/>
          </a:p>
        </p:txBody>
      </p:sp>
      <p:sp>
        <p:nvSpPr>
          <p:cNvPr id="13" name="Text 10"/>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4" name="Shape 11"/>
          <p:cNvSpPr/>
          <p:nvPr/>
        </p:nvSpPr>
        <p:spPr>
          <a:xfrm>
            <a:off x="2148840" y="4709160"/>
            <a:ext cx="1060704" cy="22860"/>
          </a:xfrm>
          <a:prstGeom prst="rect">
            <a:avLst/>
          </a:prstGeom>
          <a:solidFill>
            <a:srgbClr val="E4E4E4"/>
          </a:solidFill>
          <a:ln w="12700">
            <a:solidFill>
              <a:srgbClr val="E4E4E4"/>
            </a:solidFill>
            <a:prstDash val="solid"/>
          </a:ln>
        </p:spPr>
      </p:sp>
      <p:sp>
        <p:nvSpPr>
          <p:cNvPr id="15" name="Text 12"/>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6" name="Shape 13"/>
          <p:cNvSpPr/>
          <p:nvPr/>
        </p:nvSpPr>
        <p:spPr>
          <a:xfrm>
            <a:off x="3282696" y="4709160"/>
            <a:ext cx="1060704" cy="22860"/>
          </a:xfrm>
          <a:prstGeom prst="rect">
            <a:avLst/>
          </a:prstGeom>
          <a:solidFill>
            <a:srgbClr val="E4E4E4"/>
          </a:solidFill>
          <a:ln w="12700">
            <a:solidFill>
              <a:srgbClr val="E4E4E4"/>
            </a:solidFill>
            <a:prstDash val="solid"/>
          </a:ln>
        </p:spPr>
      </p:sp>
      <p:sp>
        <p:nvSpPr>
          <p:cNvPr id="17" name="Text 14"/>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8" name="Shape 15"/>
          <p:cNvSpPr/>
          <p:nvPr/>
        </p:nvSpPr>
        <p:spPr>
          <a:xfrm>
            <a:off x="4416552" y="4709160"/>
            <a:ext cx="1060704" cy="22860"/>
          </a:xfrm>
          <a:prstGeom prst="rect">
            <a:avLst/>
          </a:prstGeom>
          <a:solidFill>
            <a:srgbClr val="E4E4E4"/>
          </a:solidFill>
          <a:ln w="12700">
            <a:solidFill>
              <a:srgbClr val="E4E4E4"/>
            </a:solidFill>
            <a:prstDash val="solid"/>
          </a:ln>
        </p:spPr>
      </p:sp>
      <p:sp>
        <p:nvSpPr>
          <p:cNvPr id="19" name="Text 16"/>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20" name="Shape 17"/>
          <p:cNvSpPr/>
          <p:nvPr/>
        </p:nvSpPr>
        <p:spPr>
          <a:xfrm>
            <a:off x="5550408" y="4709160"/>
            <a:ext cx="1060704" cy="22860"/>
          </a:xfrm>
          <a:prstGeom prst="rect">
            <a:avLst/>
          </a:prstGeom>
          <a:solidFill>
            <a:srgbClr val="E4E4E4"/>
          </a:solidFill>
          <a:ln w="12700">
            <a:solidFill>
              <a:srgbClr val="E4E4E4"/>
            </a:solidFill>
            <a:prstDash val="solid"/>
          </a:ln>
        </p:spPr>
      </p:sp>
      <p:sp>
        <p:nvSpPr>
          <p:cNvPr id="21" name="Text 18"/>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2" name="Shape 19"/>
          <p:cNvSpPr/>
          <p:nvPr/>
        </p:nvSpPr>
        <p:spPr>
          <a:xfrm>
            <a:off x="6684264" y="4709160"/>
            <a:ext cx="1060704" cy="22860"/>
          </a:xfrm>
          <a:prstGeom prst="rect">
            <a:avLst/>
          </a:prstGeom>
          <a:solidFill>
            <a:srgbClr val="FDB51A"/>
          </a:solidFill>
          <a:ln w="12700">
            <a:solidFill>
              <a:srgbClr val="FDB51A"/>
            </a:solidFill>
            <a:prstDash val="solid"/>
          </a:ln>
        </p:spPr>
      </p:sp>
      <p:sp>
        <p:nvSpPr>
          <p:cNvPr id="23" name="Text 20"/>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Auswertung</a:t>
            </a:r>
            <a:endParaRPr lang="en-US" sz="700" dirty="0"/>
          </a:p>
        </p:txBody>
      </p:sp>
      <p:sp>
        <p:nvSpPr>
          <p:cNvPr id="24" name="Text 21"/>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15</a:t>
            </a:r>
            <a:endParaRPr lang="en-US"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Persönliche Lessons learned</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Ein Satz pro Person zu Zielerreichung, Teamspirit und dem, was wir mitnehmen</a:t>
            </a:r>
            <a:endParaRPr lang="en-US" sz="1300" dirty="0"/>
          </a:p>
        </p:txBody>
      </p:sp>
      <p:sp>
        <p:nvSpPr>
          <p:cNvPr id="6" name="Text 3"/>
          <p:cNvSpPr/>
          <p:nvPr/>
        </p:nvSpPr>
        <p:spPr>
          <a:xfrm>
            <a:off x="548640" y="1481328"/>
            <a:ext cx="2011680" cy="365760"/>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Lasse Nothelfer</a:t>
            </a:r>
            <a:endParaRPr lang="en-US" sz="1400" dirty="0"/>
          </a:p>
        </p:txBody>
      </p:sp>
      <p:sp>
        <p:nvSpPr>
          <p:cNvPr id="7" name="Text 4"/>
          <p:cNvSpPr/>
          <p:nvPr/>
        </p:nvSpPr>
        <p:spPr>
          <a:xfrm>
            <a:off x="2651760" y="1499616"/>
            <a:ext cx="5943600" cy="365760"/>
          </a:xfrm>
          <a:prstGeom prst="rect">
            <a:avLst/>
          </a:prstGeom>
          <a:noFill/>
          <a:ln/>
        </p:spPr>
        <p:txBody>
          <a:bodyPr wrap="square" lIns="0" tIns="0" rIns="0" bIns="0" rtlCol="0" anchor="t"/>
          <a:lstStyle/>
          <a:p>
            <a:pPr algn="l" indent="0" marL="0">
              <a:buNone/>
            </a:pPr>
            <a:r>
              <a:rPr lang="en-US" sz="1300" i="1" dirty="0">
                <a:solidFill>
                  <a:srgbClr val="C2410C"/>
                </a:solidFill>
                <a:latin typeface="Segoe UI" pitchFamily="34" charset="0"/>
                <a:ea typeface="Segoe UI" pitchFamily="34" charset="-122"/>
                <a:cs typeface="Segoe UI" pitchFamily="34" charset="-120"/>
              </a:rPr>
              <a:t>[TODO: Lesson learned von Lasse]</a:t>
            </a:r>
            <a:endParaRPr lang="en-US" sz="1300" dirty="0"/>
          </a:p>
        </p:txBody>
      </p:sp>
      <p:sp>
        <p:nvSpPr>
          <p:cNvPr id="8" name="Shape 5"/>
          <p:cNvSpPr/>
          <p:nvPr/>
        </p:nvSpPr>
        <p:spPr>
          <a:xfrm flipV="1">
            <a:off x="548640" y="1956816"/>
            <a:ext cx="8046720" cy="0"/>
          </a:xfrm>
          <a:prstGeom prst="line">
            <a:avLst/>
          </a:prstGeom>
          <a:noFill/>
          <a:ln w="9525">
            <a:solidFill>
              <a:srgbClr val="E4E4E4"/>
            </a:solidFill>
            <a:prstDash val="solid"/>
          </a:ln>
        </p:spPr>
      </p:sp>
      <p:sp>
        <p:nvSpPr>
          <p:cNvPr id="9" name="Text 6"/>
          <p:cNvSpPr/>
          <p:nvPr/>
        </p:nvSpPr>
        <p:spPr>
          <a:xfrm>
            <a:off x="548640" y="2066544"/>
            <a:ext cx="2011680" cy="365760"/>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Ennio Vögeli</a:t>
            </a:r>
            <a:endParaRPr lang="en-US" sz="1400" dirty="0"/>
          </a:p>
        </p:txBody>
      </p:sp>
      <p:sp>
        <p:nvSpPr>
          <p:cNvPr id="10" name="Text 7"/>
          <p:cNvSpPr/>
          <p:nvPr/>
        </p:nvSpPr>
        <p:spPr>
          <a:xfrm>
            <a:off x="2651760" y="2084832"/>
            <a:ext cx="5943600" cy="365760"/>
          </a:xfrm>
          <a:prstGeom prst="rect">
            <a:avLst/>
          </a:prstGeom>
          <a:noFill/>
          <a:ln/>
        </p:spPr>
        <p:txBody>
          <a:bodyPr wrap="square" lIns="0" tIns="0" rIns="0" bIns="0" rtlCol="0" anchor="t"/>
          <a:lstStyle/>
          <a:p>
            <a:pPr algn="l" indent="0" marL="0">
              <a:buNone/>
            </a:pPr>
            <a:r>
              <a:rPr lang="en-US" sz="1300" i="1" dirty="0">
                <a:solidFill>
                  <a:srgbClr val="C2410C"/>
                </a:solidFill>
                <a:latin typeface="Segoe UI" pitchFamily="34" charset="0"/>
                <a:ea typeface="Segoe UI" pitchFamily="34" charset="-122"/>
                <a:cs typeface="Segoe UI" pitchFamily="34" charset="-120"/>
              </a:rPr>
              <a:t>[TODO: Lesson learned von Ennio]</a:t>
            </a:r>
            <a:endParaRPr lang="en-US" sz="1300" dirty="0"/>
          </a:p>
        </p:txBody>
      </p:sp>
      <p:sp>
        <p:nvSpPr>
          <p:cNvPr id="11" name="Shape 8"/>
          <p:cNvSpPr/>
          <p:nvPr/>
        </p:nvSpPr>
        <p:spPr>
          <a:xfrm flipV="1">
            <a:off x="548640" y="2542032"/>
            <a:ext cx="8046720" cy="0"/>
          </a:xfrm>
          <a:prstGeom prst="line">
            <a:avLst/>
          </a:prstGeom>
          <a:noFill/>
          <a:ln w="9525">
            <a:solidFill>
              <a:srgbClr val="E4E4E4"/>
            </a:solidFill>
            <a:prstDash val="solid"/>
          </a:ln>
        </p:spPr>
      </p:sp>
      <p:sp>
        <p:nvSpPr>
          <p:cNvPr id="12" name="Text 9"/>
          <p:cNvSpPr/>
          <p:nvPr/>
        </p:nvSpPr>
        <p:spPr>
          <a:xfrm>
            <a:off x="548640" y="2651760"/>
            <a:ext cx="2011680" cy="365760"/>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Gonçalo Pereira</a:t>
            </a:r>
            <a:endParaRPr lang="en-US" sz="1400" dirty="0"/>
          </a:p>
        </p:txBody>
      </p:sp>
      <p:sp>
        <p:nvSpPr>
          <p:cNvPr id="13" name="Text 10"/>
          <p:cNvSpPr/>
          <p:nvPr/>
        </p:nvSpPr>
        <p:spPr>
          <a:xfrm>
            <a:off x="2651760" y="2670048"/>
            <a:ext cx="5943600" cy="365760"/>
          </a:xfrm>
          <a:prstGeom prst="rect">
            <a:avLst/>
          </a:prstGeom>
          <a:noFill/>
          <a:ln/>
        </p:spPr>
        <p:txBody>
          <a:bodyPr wrap="square" lIns="0" tIns="0" rIns="0" bIns="0" rtlCol="0" anchor="t"/>
          <a:lstStyle/>
          <a:p>
            <a:pPr algn="l" indent="0" marL="0">
              <a:buNone/>
            </a:pPr>
            <a:r>
              <a:rPr lang="en-US" sz="1300" i="1" dirty="0">
                <a:solidFill>
                  <a:srgbClr val="C2410C"/>
                </a:solidFill>
                <a:latin typeface="Segoe UI" pitchFamily="34" charset="0"/>
                <a:ea typeface="Segoe UI" pitchFamily="34" charset="-122"/>
                <a:cs typeface="Segoe UI" pitchFamily="34" charset="-120"/>
              </a:rPr>
              <a:t>[TODO: Lesson learned von Gonçalo]</a:t>
            </a:r>
            <a:endParaRPr lang="en-US" sz="1300" dirty="0"/>
          </a:p>
        </p:txBody>
      </p:sp>
      <p:sp>
        <p:nvSpPr>
          <p:cNvPr id="14" name="Shape 11"/>
          <p:cNvSpPr/>
          <p:nvPr/>
        </p:nvSpPr>
        <p:spPr>
          <a:xfrm flipV="1">
            <a:off x="548640" y="3127248"/>
            <a:ext cx="8046720" cy="0"/>
          </a:xfrm>
          <a:prstGeom prst="line">
            <a:avLst/>
          </a:prstGeom>
          <a:noFill/>
          <a:ln w="9525">
            <a:solidFill>
              <a:srgbClr val="E4E4E4"/>
            </a:solidFill>
            <a:prstDash val="solid"/>
          </a:ln>
        </p:spPr>
      </p:sp>
      <p:sp>
        <p:nvSpPr>
          <p:cNvPr id="15" name="Text 12"/>
          <p:cNvSpPr/>
          <p:nvPr/>
        </p:nvSpPr>
        <p:spPr>
          <a:xfrm>
            <a:off x="548640" y="3236976"/>
            <a:ext cx="2011680" cy="365760"/>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Paul Kühn</a:t>
            </a:r>
            <a:endParaRPr lang="en-US" sz="1400" dirty="0"/>
          </a:p>
        </p:txBody>
      </p:sp>
      <p:sp>
        <p:nvSpPr>
          <p:cNvPr id="16" name="Text 13"/>
          <p:cNvSpPr/>
          <p:nvPr/>
        </p:nvSpPr>
        <p:spPr>
          <a:xfrm>
            <a:off x="2651760" y="3255264"/>
            <a:ext cx="5943600" cy="365760"/>
          </a:xfrm>
          <a:prstGeom prst="rect">
            <a:avLst/>
          </a:prstGeom>
          <a:noFill/>
          <a:ln/>
        </p:spPr>
        <p:txBody>
          <a:bodyPr wrap="square" lIns="0" tIns="0" rIns="0" bIns="0" rtlCol="0" anchor="t"/>
          <a:lstStyle/>
          <a:p>
            <a:pPr algn="l" indent="0" marL="0">
              <a:buNone/>
            </a:pPr>
            <a:r>
              <a:rPr lang="en-US" sz="1300" i="1" dirty="0">
                <a:solidFill>
                  <a:srgbClr val="C2410C"/>
                </a:solidFill>
                <a:latin typeface="Segoe UI" pitchFamily="34" charset="0"/>
                <a:ea typeface="Segoe UI" pitchFamily="34" charset="-122"/>
                <a:cs typeface="Segoe UI" pitchFamily="34" charset="-120"/>
              </a:rPr>
              <a:t>[TODO: Lesson learned von Paul]</a:t>
            </a:r>
            <a:endParaRPr lang="en-US" sz="1300" dirty="0"/>
          </a:p>
        </p:txBody>
      </p:sp>
      <p:sp>
        <p:nvSpPr>
          <p:cNvPr id="17" name="Shape 14"/>
          <p:cNvSpPr/>
          <p:nvPr/>
        </p:nvSpPr>
        <p:spPr>
          <a:xfrm flipV="1">
            <a:off x="548640" y="3712464"/>
            <a:ext cx="8046720" cy="0"/>
          </a:xfrm>
          <a:prstGeom prst="line">
            <a:avLst/>
          </a:prstGeom>
          <a:noFill/>
          <a:ln w="9525">
            <a:solidFill>
              <a:srgbClr val="E4E4E4"/>
            </a:solidFill>
            <a:prstDash val="solid"/>
          </a:ln>
        </p:spPr>
      </p:sp>
      <p:sp>
        <p:nvSpPr>
          <p:cNvPr id="18" name="Text 15"/>
          <p:cNvSpPr/>
          <p:nvPr/>
        </p:nvSpPr>
        <p:spPr>
          <a:xfrm>
            <a:off x="548640" y="3822192"/>
            <a:ext cx="2011680" cy="365760"/>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Elias Hüngerle</a:t>
            </a:r>
            <a:endParaRPr lang="en-US" sz="1400" dirty="0"/>
          </a:p>
        </p:txBody>
      </p:sp>
      <p:sp>
        <p:nvSpPr>
          <p:cNvPr id="19" name="Text 16"/>
          <p:cNvSpPr/>
          <p:nvPr/>
        </p:nvSpPr>
        <p:spPr>
          <a:xfrm>
            <a:off x="2651760" y="3840480"/>
            <a:ext cx="5943600" cy="365760"/>
          </a:xfrm>
          <a:prstGeom prst="rect">
            <a:avLst/>
          </a:prstGeom>
          <a:noFill/>
          <a:ln/>
        </p:spPr>
        <p:txBody>
          <a:bodyPr wrap="square" lIns="0" tIns="0" rIns="0" bIns="0" rtlCol="0" anchor="t"/>
          <a:lstStyle/>
          <a:p>
            <a:pPr algn="l" indent="0" marL="0">
              <a:buNone/>
            </a:pPr>
            <a:r>
              <a:rPr lang="en-US" sz="1300" i="1" dirty="0">
                <a:solidFill>
                  <a:srgbClr val="C2410C"/>
                </a:solidFill>
                <a:latin typeface="Segoe UI" pitchFamily="34" charset="0"/>
                <a:ea typeface="Segoe UI" pitchFamily="34" charset="-122"/>
                <a:cs typeface="Segoe UI" pitchFamily="34" charset="-120"/>
              </a:rPr>
              <a:t>[TODO: Lesson learned von Elias]</a:t>
            </a:r>
            <a:endParaRPr lang="en-US" sz="1300" dirty="0"/>
          </a:p>
        </p:txBody>
      </p:sp>
      <p:sp>
        <p:nvSpPr>
          <p:cNvPr id="20" name="Text 17"/>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21" name="Shape 18"/>
          <p:cNvSpPr/>
          <p:nvPr/>
        </p:nvSpPr>
        <p:spPr>
          <a:xfrm>
            <a:off x="2148840" y="4709160"/>
            <a:ext cx="1060704" cy="22860"/>
          </a:xfrm>
          <a:prstGeom prst="rect">
            <a:avLst/>
          </a:prstGeom>
          <a:solidFill>
            <a:srgbClr val="E4E4E4"/>
          </a:solidFill>
          <a:ln w="12700">
            <a:solidFill>
              <a:srgbClr val="E4E4E4"/>
            </a:solidFill>
            <a:prstDash val="solid"/>
          </a:ln>
        </p:spPr>
      </p:sp>
      <p:sp>
        <p:nvSpPr>
          <p:cNvPr id="22" name="Text 19"/>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23" name="Shape 20"/>
          <p:cNvSpPr/>
          <p:nvPr/>
        </p:nvSpPr>
        <p:spPr>
          <a:xfrm>
            <a:off x="3282696" y="4709160"/>
            <a:ext cx="1060704" cy="22860"/>
          </a:xfrm>
          <a:prstGeom prst="rect">
            <a:avLst/>
          </a:prstGeom>
          <a:solidFill>
            <a:srgbClr val="E4E4E4"/>
          </a:solidFill>
          <a:ln w="12700">
            <a:solidFill>
              <a:srgbClr val="E4E4E4"/>
            </a:solidFill>
            <a:prstDash val="solid"/>
          </a:ln>
        </p:spPr>
      </p:sp>
      <p:sp>
        <p:nvSpPr>
          <p:cNvPr id="24" name="Text 21"/>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25" name="Shape 22"/>
          <p:cNvSpPr/>
          <p:nvPr/>
        </p:nvSpPr>
        <p:spPr>
          <a:xfrm>
            <a:off x="4416552" y="4709160"/>
            <a:ext cx="1060704" cy="22860"/>
          </a:xfrm>
          <a:prstGeom prst="rect">
            <a:avLst/>
          </a:prstGeom>
          <a:solidFill>
            <a:srgbClr val="E4E4E4"/>
          </a:solidFill>
          <a:ln w="12700">
            <a:solidFill>
              <a:srgbClr val="E4E4E4"/>
            </a:solidFill>
            <a:prstDash val="solid"/>
          </a:ln>
        </p:spPr>
      </p:sp>
      <p:sp>
        <p:nvSpPr>
          <p:cNvPr id="26" name="Text 23"/>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27" name="Shape 24"/>
          <p:cNvSpPr/>
          <p:nvPr/>
        </p:nvSpPr>
        <p:spPr>
          <a:xfrm>
            <a:off x="5550408" y="4709160"/>
            <a:ext cx="1060704" cy="22860"/>
          </a:xfrm>
          <a:prstGeom prst="rect">
            <a:avLst/>
          </a:prstGeom>
          <a:solidFill>
            <a:srgbClr val="E4E4E4"/>
          </a:solidFill>
          <a:ln w="12700">
            <a:solidFill>
              <a:srgbClr val="E4E4E4"/>
            </a:solidFill>
            <a:prstDash val="solid"/>
          </a:ln>
        </p:spPr>
      </p:sp>
      <p:sp>
        <p:nvSpPr>
          <p:cNvPr id="28" name="Text 25"/>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9" name="Shape 26"/>
          <p:cNvSpPr/>
          <p:nvPr/>
        </p:nvSpPr>
        <p:spPr>
          <a:xfrm>
            <a:off x="6684264" y="4709160"/>
            <a:ext cx="1060704" cy="22860"/>
          </a:xfrm>
          <a:prstGeom prst="rect">
            <a:avLst/>
          </a:prstGeom>
          <a:solidFill>
            <a:srgbClr val="FDB51A"/>
          </a:solidFill>
          <a:ln w="12700">
            <a:solidFill>
              <a:srgbClr val="FDB51A"/>
            </a:solidFill>
            <a:prstDash val="solid"/>
          </a:ln>
        </p:spPr>
      </p:sp>
      <p:sp>
        <p:nvSpPr>
          <p:cNvPr id="30" name="Text 27"/>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Auswertung</a:t>
            </a:r>
            <a:endParaRPr lang="en-US" sz="700" dirty="0"/>
          </a:p>
        </p:txBody>
      </p:sp>
      <p:sp>
        <p:nvSpPr>
          <p:cNvPr id="31" name="Text 28"/>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16</a:t>
            </a:r>
            <a:endParaRPr lang="en-US" sz="8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Projektziel erreicht</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Fazit und Ausblick</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Erreicht</a:t>
            </a:r>
            <a:endParaRPr lang="en-US" sz="1400" dirty="0"/>
          </a:p>
        </p:txBody>
      </p:sp>
      <p:sp>
        <p:nvSpPr>
          <p:cNvPr id="7" name="Text 4"/>
          <p:cNvSpPr/>
          <p:nvPr/>
        </p:nvSpPr>
        <p:spPr>
          <a:xfrm>
            <a:off x="54864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Liest die rund 5'200 Dateien, rechnet Zählerstände, zeigt Diagramme, exportiert CSV</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Zusätzlich: JSON-Export, HTTP-POST, Dashboard, Drill-down, Login</a:t>
            </a:r>
            <a:endParaRPr lang="en-US" sz="1400" dirty="0"/>
          </a:p>
        </p:txBody>
      </p:sp>
      <p:sp>
        <p:nvSpPr>
          <p:cNvPr id="8" name="Text 5"/>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Ausblick</a:t>
            </a:r>
            <a:endParaRPr lang="en-US" sz="1400" dirty="0"/>
          </a:p>
        </p:txBody>
      </p:sp>
      <p:sp>
        <p:nvSpPr>
          <p:cNvPr id="9" name="Text 6"/>
          <p:cNvSpPr/>
          <p:nvPr/>
        </p:nvSpPr>
        <p:spPr>
          <a:xfrm>
            <a:off x="4754880" y="1865376"/>
            <a:ext cx="3840480" cy="2688336"/>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Daten im Browser zwischenspeichern (F17)</a:t>
            </a:r>
            <a:endParaRPr lang="en-US" sz="1400" dirty="0"/>
          </a:p>
          <a:p>
            <a:pPr marL="203200" indent="-203200">
              <a:spcAft>
                <a:spcPts val="700"/>
              </a:spcAft>
              <a:buSzPct val="100000"/>
              <a:buChar char="–"/>
            </a:pPr>
            <a:r>
              <a:rPr lang="en-US" sz="1400" dirty="0">
                <a:solidFill>
                  <a:srgbClr val="13161A"/>
                </a:solidFill>
                <a:latin typeface="Segoe UI" pitchFamily="34" charset="0"/>
                <a:ea typeface="Segoe UI" pitchFamily="34" charset="-122"/>
                <a:cs typeface="Segoe UI" pitchFamily="34" charset="-120"/>
              </a:rPr>
              <a:t>Zählerstände für die Zeit ohne ESL-Werte hochrechnen</a:t>
            </a:r>
            <a:endParaRPr lang="en-US" sz="1400" dirty="0"/>
          </a:p>
        </p:txBody>
      </p:sp>
      <p:sp>
        <p:nvSpPr>
          <p:cNvPr id="10" name="Shape 7"/>
          <p:cNvSpPr/>
          <p:nvPr/>
        </p:nvSpPr>
        <p:spPr>
          <a:xfrm>
            <a:off x="548640" y="3611880"/>
            <a:ext cx="54864" cy="822960"/>
          </a:xfrm>
          <a:prstGeom prst="rect">
            <a:avLst/>
          </a:prstGeom>
          <a:solidFill>
            <a:srgbClr val="FDB51A"/>
          </a:solidFill>
          <a:ln w="12700">
            <a:solidFill>
              <a:srgbClr val="FDB51A"/>
            </a:solidFill>
            <a:prstDash val="solid"/>
          </a:ln>
        </p:spPr>
      </p:sp>
      <p:sp>
        <p:nvSpPr>
          <p:cNvPr id="11" name="Text 8"/>
          <p:cNvSpPr/>
          <p:nvPr/>
        </p:nvSpPr>
        <p:spPr>
          <a:xfrm>
            <a:off x="777240" y="3639312"/>
            <a:ext cx="7680960" cy="777240"/>
          </a:xfrm>
          <a:prstGeom prst="rect">
            <a:avLst/>
          </a:prstGeom>
          <a:noFill/>
          <a:ln/>
        </p:spPr>
        <p:txBody>
          <a:bodyPr wrap="square" lIns="0" tIns="0" rIns="0" bIns="0" rtlCol="0" anchor="t"/>
          <a:lstStyle/>
          <a:p>
            <a:pPr algn="l" indent="0" marL="0">
              <a:buNone/>
            </a:pPr>
            <a:r>
              <a:rPr lang="en-US" sz="1700" dirty="0">
                <a:solidFill>
                  <a:srgbClr val="13161A"/>
                </a:solidFill>
                <a:latin typeface="Segoe UI" pitchFamily="34" charset="0"/>
                <a:ea typeface="Segoe UI" pitchFamily="34" charset="-122"/>
                <a:cs typeface="Segoe UI" pitchFamily="34" charset="-120"/>
              </a:rPr>
              <a:t>Die Energieagentur Bünzli kann die Zählerdaten ohne Programmierkenntnisse und ohne Installation im Browser auswerten.</a:t>
            </a:r>
            <a:endParaRPr lang="en-US" sz="17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Shape 10"/>
          <p:cNvSpPr/>
          <p:nvPr/>
        </p:nvSpPr>
        <p:spPr>
          <a:xfrm>
            <a:off x="2148840" y="4709160"/>
            <a:ext cx="1060704" cy="22860"/>
          </a:xfrm>
          <a:prstGeom prst="rect">
            <a:avLst/>
          </a:prstGeom>
          <a:solidFill>
            <a:srgbClr val="E4E4E4"/>
          </a:solidFill>
          <a:ln w="12700">
            <a:solidFill>
              <a:srgbClr val="E4E4E4"/>
            </a:solidFill>
            <a:prstDash val="solid"/>
          </a:ln>
        </p:spPr>
      </p:sp>
      <p:sp>
        <p:nvSpPr>
          <p:cNvPr id="14" name="Text 11"/>
          <p:cNvSpPr/>
          <p:nvPr/>
        </p:nvSpPr>
        <p:spPr>
          <a:xfrm>
            <a:off x="2148840"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Auftrag &amp; Team</a:t>
            </a:r>
            <a:endParaRPr lang="en-US" sz="700" dirty="0"/>
          </a:p>
        </p:txBody>
      </p:sp>
      <p:sp>
        <p:nvSpPr>
          <p:cNvPr id="15" name="Shape 12"/>
          <p:cNvSpPr/>
          <p:nvPr/>
        </p:nvSpPr>
        <p:spPr>
          <a:xfrm>
            <a:off x="3282696" y="4709160"/>
            <a:ext cx="1060704" cy="22860"/>
          </a:xfrm>
          <a:prstGeom prst="rect">
            <a:avLst/>
          </a:prstGeom>
          <a:solidFill>
            <a:srgbClr val="E4E4E4"/>
          </a:solidFill>
          <a:ln w="12700">
            <a:solidFill>
              <a:srgbClr val="E4E4E4"/>
            </a:solidFill>
            <a:prstDash val="solid"/>
          </a:ln>
        </p:spPr>
      </p:sp>
      <p:sp>
        <p:nvSpPr>
          <p:cNvPr id="16" name="Text 13"/>
          <p:cNvSpPr/>
          <p:nvPr/>
        </p:nvSpPr>
        <p:spPr>
          <a:xfrm>
            <a:off x="3282696"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Planung</a:t>
            </a:r>
            <a:endParaRPr lang="en-US" sz="700" dirty="0"/>
          </a:p>
        </p:txBody>
      </p:sp>
      <p:sp>
        <p:nvSpPr>
          <p:cNvPr id="17" name="Shape 14"/>
          <p:cNvSpPr/>
          <p:nvPr/>
        </p:nvSpPr>
        <p:spPr>
          <a:xfrm>
            <a:off x="4416552" y="4709160"/>
            <a:ext cx="1060704" cy="22860"/>
          </a:xfrm>
          <a:prstGeom prst="rect">
            <a:avLst/>
          </a:prstGeom>
          <a:solidFill>
            <a:srgbClr val="E4E4E4"/>
          </a:solidFill>
          <a:ln w="12700">
            <a:solidFill>
              <a:srgbClr val="E4E4E4"/>
            </a:solidFill>
            <a:prstDash val="solid"/>
          </a:ln>
        </p:spPr>
      </p:sp>
      <p:sp>
        <p:nvSpPr>
          <p:cNvPr id="18" name="Text 15"/>
          <p:cNvSpPr/>
          <p:nvPr/>
        </p:nvSpPr>
        <p:spPr>
          <a:xfrm>
            <a:off x="4416552"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Umsetzung &amp; Demo</a:t>
            </a:r>
            <a:endParaRPr lang="en-US" sz="700" dirty="0"/>
          </a:p>
        </p:txBody>
      </p:sp>
      <p:sp>
        <p:nvSpPr>
          <p:cNvPr id="19" name="Shape 16"/>
          <p:cNvSpPr/>
          <p:nvPr/>
        </p:nvSpPr>
        <p:spPr>
          <a:xfrm>
            <a:off x="5550408" y="4709160"/>
            <a:ext cx="1060704" cy="22860"/>
          </a:xfrm>
          <a:prstGeom prst="rect">
            <a:avLst/>
          </a:prstGeom>
          <a:solidFill>
            <a:srgbClr val="E4E4E4"/>
          </a:solidFill>
          <a:ln w="12700">
            <a:solidFill>
              <a:srgbClr val="E4E4E4"/>
            </a:solidFill>
            <a:prstDash val="solid"/>
          </a:ln>
        </p:spPr>
      </p:sp>
      <p:sp>
        <p:nvSpPr>
          <p:cNvPr id="20" name="Text 17"/>
          <p:cNvSpPr/>
          <p:nvPr/>
        </p:nvSpPr>
        <p:spPr>
          <a:xfrm>
            <a:off x="5550408" y="4754880"/>
            <a:ext cx="1060704" cy="219456"/>
          </a:xfrm>
          <a:prstGeom prst="rect">
            <a:avLst/>
          </a:prstGeom>
          <a:noFill/>
          <a:ln/>
        </p:spPr>
        <p:txBody>
          <a:bodyPr wrap="square" lIns="0" tIns="0" rIns="0" bIns="0" rtlCol="0" anchor="ctr"/>
          <a:lstStyle/>
          <a:p>
            <a:pPr indent="0" marL="0">
              <a:buNone/>
            </a:pPr>
            <a:r>
              <a:rPr lang="en-US" sz="700" dirty="0">
                <a:solidFill>
                  <a:srgbClr val="8A8A8A"/>
                </a:solidFill>
                <a:latin typeface="Segoe UI" pitchFamily="34" charset="0"/>
                <a:ea typeface="Segoe UI" pitchFamily="34" charset="-122"/>
                <a:cs typeface="Segoe UI" pitchFamily="34" charset="-120"/>
              </a:rPr>
              <a:t>Kontrolle</a:t>
            </a:r>
            <a:endParaRPr lang="en-US" sz="700" dirty="0"/>
          </a:p>
        </p:txBody>
      </p:sp>
      <p:sp>
        <p:nvSpPr>
          <p:cNvPr id="21" name="Shape 18"/>
          <p:cNvSpPr/>
          <p:nvPr/>
        </p:nvSpPr>
        <p:spPr>
          <a:xfrm>
            <a:off x="6684264" y="4709160"/>
            <a:ext cx="1060704" cy="22860"/>
          </a:xfrm>
          <a:prstGeom prst="rect">
            <a:avLst/>
          </a:prstGeom>
          <a:solidFill>
            <a:srgbClr val="FDB51A"/>
          </a:solidFill>
          <a:ln w="12700">
            <a:solidFill>
              <a:srgbClr val="FDB51A"/>
            </a:solidFill>
            <a:prstDash val="solid"/>
          </a:ln>
        </p:spPr>
      </p:sp>
      <p:sp>
        <p:nvSpPr>
          <p:cNvPr id="22" name="Text 19"/>
          <p:cNvSpPr/>
          <p:nvPr/>
        </p:nvSpPr>
        <p:spPr>
          <a:xfrm>
            <a:off x="6684264" y="4754880"/>
            <a:ext cx="1060704" cy="219456"/>
          </a:xfrm>
          <a:prstGeom prst="rect">
            <a:avLst/>
          </a:prstGeom>
          <a:noFill/>
          <a:ln/>
        </p:spPr>
        <p:txBody>
          <a:bodyPr wrap="square" lIns="0" tIns="0" rIns="0" bIns="0" rtlCol="0" anchor="ctr"/>
          <a:lstStyle/>
          <a:p>
            <a:pPr indent="0" marL="0">
              <a:buNone/>
            </a:pPr>
            <a:r>
              <a:rPr lang="en-US" sz="700" dirty="0">
                <a:solidFill>
                  <a:srgbClr val="13161A"/>
                </a:solidFill>
                <a:latin typeface="Segoe UI Semibold" pitchFamily="34" charset="0"/>
                <a:ea typeface="Segoe UI Semibold" pitchFamily="34" charset="-122"/>
                <a:cs typeface="Segoe UI Semibold" pitchFamily="34" charset="-120"/>
              </a:rPr>
              <a:t>Auswertung</a:t>
            </a:r>
            <a:endParaRPr lang="en-US" sz="700" dirty="0"/>
          </a:p>
        </p:txBody>
      </p:sp>
      <p:sp>
        <p:nvSpPr>
          <p:cNvPr id="23" name="Text 2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17</a:t>
            </a:r>
            <a:endParaRPr lang="en-US" sz="8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46304" cy="5143500"/>
          </a:xfrm>
          <a:prstGeom prst="rect">
            <a:avLst/>
          </a:prstGeom>
          <a:solidFill>
            <a:srgbClr val="FDB51A"/>
          </a:solidFill>
          <a:ln w="12700">
            <a:solidFill>
              <a:srgbClr val="FDB51A"/>
            </a:solidFill>
            <a:prstDash val="solid"/>
          </a:ln>
        </p:spPr>
      </p:sp>
      <p:sp>
        <p:nvSpPr>
          <p:cNvPr id="4" name="Text 1"/>
          <p:cNvSpPr/>
          <p:nvPr/>
        </p:nvSpPr>
        <p:spPr>
          <a:xfrm>
            <a:off x="731520" y="1325880"/>
            <a:ext cx="7680960" cy="731520"/>
          </a:xfrm>
          <a:prstGeom prst="rect">
            <a:avLst/>
          </a:prstGeom>
          <a:noFill/>
          <a:ln/>
        </p:spPr>
        <p:txBody>
          <a:bodyPr wrap="square" lIns="0" tIns="0" rIns="0" bIns="0" rtlCol="0" anchor="t"/>
          <a:lstStyle/>
          <a:p>
            <a:pPr algn="l" indent="0" marL="0">
              <a:buNone/>
            </a:pPr>
            <a:r>
              <a:rPr lang="en-US" sz="3600" dirty="0">
                <a:solidFill>
                  <a:srgbClr val="13161A"/>
                </a:solidFill>
                <a:latin typeface="Segoe UI Semibold" pitchFamily="34" charset="0"/>
                <a:ea typeface="Segoe UI Semibold" pitchFamily="34" charset="-122"/>
                <a:cs typeface="Segoe UI Semibold" pitchFamily="34" charset="-120"/>
              </a:rPr>
              <a:t>Danke für Ihre Aufmerksamkeit.</a:t>
            </a:r>
            <a:endParaRPr lang="en-US" sz="3600" dirty="0"/>
          </a:p>
        </p:txBody>
      </p:sp>
      <p:sp>
        <p:nvSpPr>
          <p:cNvPr id="5" name="Text 2"/>
          <p:cNvSpPr/>
          <p:nvPr/>
        </p:nvSpPr>
        <p:spPr>
          <a:xfrm>
            <a:off x="731520" y="2103120"/>
            <a:ext cx="7680960" cy="411480"/>
          </a:xfrm>
          <a:prstGeom prst="rect">
            <a:avLst/>
          </a:prstGeom>
          <a:noFill/>
          <a:ln/>
        </p:spPr>
        <p:txBody>
          <a:bodyPr wrap="square" lIns="0" tIns="0" rIns="0" bIns="0" rtlCol="0" anchor="t"/>
          <a:lstStyle/>
          <a:p>
            <a:pPr algn="l" indent="0" marL="0">
              <a:buNone/>
            </a:pPr>
            <a:r>
              <a:rPr lang="en-US" sz="1800" dirty="0">
                <a:solidFill>
                  <a:srgbClr val="595959"/>
                </a:solidFill>
                <a:latin typeface="Segoe UI" pitchFamily="34" charset="0"/>
                <a:ea typeface="Segoe UI" pitchFamily="34" charset="-122"/>
                <a:cs typeface="Segoe UI" pitchFamily="34" charset="-120"/>
              </a:rPr>
              <a:t>Wir freuen uns auf Ihre Fragen und das Fachgespräch.</a:t>
            </a:r>
            <a:endParaRPr lang="en-US" sz="1800" dirty="0"/>
          </a:p>
        </p:txBody>
      </p:sp>
      <p:sp>
        <p:nvSpPr>
          <p:cNvPr id="6" name="Shape 3"/>
          <p:cNvSpPr/>
          <p:nvPr/>
        </p:nvSpPr>
        <p:spPr>
          <a:xfrm>
            <a:off x="731520" y="2743200"/>
            <a:ext cx="502920" cy="50292"/>
          </a:xfrm>
          <a:prstGeom prst="rect">
            <a:avLst/>
          </a:prstGeom>
          <a:solidFill>
            <a:srgbClr val="FDB51A"/>
          </a:solidFill>
          <a:ln w="12700">
            <a:solidFill>
              <a:srgbClr val="FDB51A"/>
            </a:solidFill>
            <a:prstDash val="solid"/>
          </a:ln>
        </p:spPr>
      </p:sp>
      <p:sp>
        <p:nvSpPr>
          <p:cNvPr id="7" name="Text 4"/>
          <p:cNvSpPr/>
          <p:nvPr/>
        </p:nvSpPr>
        <p:spPr>
          <a:xfrm>
            <a:off x="731520" y="2926080"/>
            <a:ext cx="7680960" cy="274320"/>
          </a:xfrm>
          <a:prstGeom prst="rect">
            <a:avLst/>
          </a:prstGeom>
          <a:noFill/>
          <a:ln/>
        </p:spPr>
        <p:txBody>
          <a:bodyPr wrap="square" lIns="0" tIns="0" rIns="0" bIns="0" rtlCol="0" anchor="t"/>
          <a:lstStyle/>
          <a:p>
            <a:pPr algn="l" indent="0" marL="0">
              <a:buNone/>
            </a:pPr>
            <a:r>
              <a:rPr lang="en-US" sz="1200" dirty="0">
                <a:solidFill>
                  <a:srgbClr val="13161A"/>
                </a:solidFill>
                <a:latin typeface="Segoe UI" pitchFamily="34" charset="0"/>
                <a:ea typeface="Segoe UI" pitchFamily="34" charset="-122"/>
                <a:cs typeface="Segoe UI" pitchFamily="34" charset="-120"/>
              </a:rPr>
              <a:t>Lasse Nothelfer · Ennio Vögeli · Gonçalo Pereira · Paul Kühn · Elias Hüngerle</a:t>
            </a:r>
            <a:endParaRPr lang="en-US" sz="1200" dirty="0"/>
          </a:p>
        </p:txBody>
      </p:sp>
      <p:sp>
        <p:nvSpPr>
          <p:cNvPr id="8" name="Text 5"/>
          <p:cNvSpPr/>
          <p:nvPr/>
        </p:nvSpPr>
        <p:spPr>
          <a:xfrm>
            <a:off x="731520" y="3246120"/>
            <a:ext cx="768096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Quellen und Lizenzen der verwendeten Bibliotheken: Projektdokumentation, Kapitel 8</a:t>
            </a:r>
            <a:endParaRPr lang="en-US" sz="1100" dirty="0"/>
          </a:p>
        </p:txBody>
      </p:sp>
      <p:sp>
        <p:nvSpPr>
          <p:cNvPr id="9" name="Text 6"/>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0" name="Text 7"/>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18</a:t>
            </a:r>
            <a:endParaRPr lang="en-US" sz="800" dirty="0"/>
          </a:p>
        </p:txBody>
      </p:sp>
      <p:pic>
        <p:nvPicPr>
          <p:cNvPr id="11" name="Image 0" descr="preencoded.png">    </p:cNvPr>
          <p:cNvPicPr>
            <a:picLocks noChangeAspect="1"/>
          </p:cNvPicPr>
          <p:nvPr/>
        </p:nvPicPr>
        <p:blipFill>
          <a:blip r:embed="rId1"/>
          <a:stretch>
            <a:fillRect/>
          </a:stretch>
        </p:blipFill>
        <p:spPr>
          <a:xfrm>
            <a:off x="6766560" y="3931920"/>
            <a:ext cx="1737360" cy="547268"/>
          </a:xfrm>
          <a:prstGeom prst="rect">
            <a:avLst/>
          </a:prstGeom>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Anhang: Dashboard</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Backup für die Demo · Kennzahlen, Monatswerte, Jahresvergleich und Hinweise</a:t>
            </a:r>
            <a:endParaRPr lang="en-US" sz="1300" dirty="0"/>
          </a:p>
        </p:txBody>
      </p:sp>
      <p:sp>
        <p:nvSpPr>
          <p:cNvPr id="6" name="Shape 3"/>
          <p:cNvSpPr/>
          <p:nvPr/>
        </p:nvSpPr>
        <p:spPr>
          <a:xfrm>
            <a:off x="1750568" y="1426464"/>
            <a:ext cx="5642864" cy="3182112"/>
          </a:xfrm>
          <a:prstGeom prst="rect">
            <a:avLst/>
          </a:prstGeom>
          <a:solidFill>
            <a:srgbClr val="FFFFFF"/>
          </a:solidFill>
          <a:ln w="12700">
            <a:solidFill>
              <a:srgbClr val="E4E4E4"/>
            </a:solidFill>
            <a:prstDash val="solid"/>
          </a:ln>
        </p:spPr>
      </p:sp>
      <p:sp>
        <p:nvSpPr>
          <p:cNvPr id="7" name="Text 4"/>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8" name="Text 5"/>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19</a:t>
            </a:r>
            <a:endParaRPr lang="en-US" sz="800" dirty="0"/>
          </a:p>
        </p:txBody>
      </p:sp>
      <p:pic>
        <p:nvPicPr>
          <p:cNvPr id="9" name="Image 0" descr="preencoded.png">    </p:cNvPr>
          <p:cNvPicPr>
            <a:picLocks noChangeAspect="1"/>
          </p:cNvPicPr>
          <p:nvPr/>
        </p:nvPicPr>
        <p:blipFill>
          <a:blip r:embed="rId1"/>
          <a:stretch>
            <a:fillRect/>
          </a:stretch>
        </p:blipFill>
        <p:spPr>
          <a:xfrm>
            <a:off x="1759712" y="1435608"/>
            <a:ext cx="5624576" cy="3163824"/>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Anhang: Verbrauch</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Backup für die Demo · vom Jahr bis zur Viertelstunde</a:t>
            </a:r>
            <a:endParaRPr lang="en-US" sz="1300" dirty="0"/>
          </a:p>
        </p:txBody>
      </p:sp>
      <p:sp>
        <p:nvSpPr>
          <p:cNvPr id="6" name="Text 3"/>
          <p:cNvSpPr/>
          <p:nvPr/>
        </p:nvSpPr>
        <p:spPr>
          <a:xfrm>
            <a:off x="54864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Jahr 2020</a:t>
            </a:r>
            <a:endParaRPr lang="en-US" sz="1400" dirty="0"/>
          </a:p>
        </p:txBody>
      </p:sp>
      <p:sp>
        <p:nvSpPr>
          <p:cNvPr id="7" name="Shape 4"/>
          <p:cNvSpPr/>
          <p:nvPr/>
        </p:nvSpPr>
        <p:spPr>
          <a:xfrm>
            <a:off x="539496" y="1856232"/>
            <a:ext cx="3858768" cy="2178558"/>
          </a:xfrm>
          <a:prstGeom prst="rect">
            <a:avLst/>
          </a:prstGeom>
          <a:solidFill>
            <a:srgbClr val="FFFFFF"/>
          </a:solidFill>
          <a:ln w="12700">
            <a:solidFill>
              <a:srgbClr val="E4E4E4"/>
            </a:solidFill>
            <a:prstDash val="solid"/>
          </a:ln>
        </p:spPr>
      </p:sp>
      <p:sp>
        <p:nvSpPr>
          <p:cNvPr id="8" name="Text 5"/>
          <p:cNvSpPr/>
          <p:nvPr/>
        </p:nvSpPr>
        <p:spPr>
          <a:xfrm>
            <a:off x="548640" y="4117086"/>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Wochenwerte, ein Klick im Diagramm öffnet die nächste Stufe</a:t>
            </a:r>
            <a:endParaRPr lang="en-US" sz="1100" dirty="0"/>
          </a:p>
        </p:txBody>
      </p:sp>
      <p:sp>
        <p:nvSpPr>
          <p:cNvPr id="9" name="Text 6"/>
          <p:cNvSpPr/>
          <p:nvPr/>
        </p:nvSpPr>
        <p:spPr>
          <a:xfrm>
            <a:off x="4754880" y="1481328"/>
            <a:ext cx="3840480" cy="292608"/>
          </a:xfrm>
          <a:prstGeom prst="rect">
            <a:avLst/>
          </a:prstGeom>
          <a:noFill/>
          <a:ln/>
        </p:spPr>
        <p:txBody>
          <a:bodyPr wrap="square" lIns="0" tIns="0" rIns="0" bIns="0" rtlCol="0" anchor="t"/>
          <a:lstStyle/>
          <a:p>
            <a:pPr algn="l" indent="0" marL="0">
              <a:buNone/>
            </a:pPr>
            <a:r>
              <a:rPr lang="en-US" sz="1400" dirty="0">
                <a:solidFill>
                  <a:srgbClr val="13161A"/>
                </a:solidFill>
                <a:latin typeface="Segoe UI Semibold" pitchFamily="34" charset="0"/>
                <a:ea typeface="Segoe UI Semibold" pitchFamily="34" charset="-122"/>
                <a:cs typeface="Segoe UI Semibold" pitchFamily="34" charset="-120"/>
              </a:rPr>
              <a:t>Tag 15.07.2020</a:t>
            </a:r>
            <a:endParaRPr lang="en-US" sz="1400" dirty="0"/>
          </a:p>
        </p:txBody>
      </p:sp>
      <p:sp>
        <p:nvSpPr>
          <p:cNvPr id="10" name="Shape 7"/>
          <p:cNvSpPr/>
          <p:nvPr/>
        </p:nvSpPr>
        <p:spPr>
          <a:xfrm>
            <a:off x="4745736" y="1856232"/>
            <a:ext cx="3858768" cy="2178558"/>
          </a:xfrm>
          <a:prstGeom prst="rect">
            <a:avLst/>
          </a:prstGeom>
          <a:solidFill>
            <a:srgbClr val="FFFFFF"/>
          </a:solidFill>
          <a:ln w="12700">
            <a:solidFill>
              <a:srgbClr val="E4E4E4"/>
            </a:solidFill>
            <a:prstDash val="solid"/>
          </a:ln>
        </p:spPr>
      </p:sp>
      <p:sp>
        <p:nvSpPr>
          <p:cNvPr id="11" name="Text 8"/>
          <p:cNvSpPr/>
          <p:nvPr/>
        </p:nvSpPr>
        <p:spPr>
          <a:xfrm>
            <a:off x="4754880" y="4117086"/>
            <a:ext cx="3840480" cy="274320"/>
          </a:xfrm>
          <a:prstGeom prst="rect">
            <a:avLst/>
          </a:prstGeom>
          <a:noFill/>
          <a:ln/>
        </p:spPr>
        <p:txBody>
          <a:bodyPr wrap="square" lIns="0" tIns="0" rIns="0" bIns="0" rtlCol="0" anchor="t"/>
          <a:lstStyle/>
          <a:p>
            <a:pPr algn="l" indent="0" marL="0">
              <a:buNone/>
            </a:pPr>
            <a:r>
              <a:rPr lang="en-US" sz="1100" dirty="0">
                <a:solidFill>
                  <a:srgbClr val="595959"/>
                </a:solidFill>
                <a:latin typeface="Segoe UI" pitchFamily="34" charset="0"/>
                <a:ea typeface="Segoe UI" pitchFamily="34" charset="-122"/>
                <a:cs typeface="Segoe UI" pitchFamily="34" charset="-120"/>
              </a:rPr>
              <a:t>15-Minuten-Werte von Bezug und Einspeisung</a:t>
            </a:r>
            <a:endParaRPr lang="en-US" sz="1100" dirty="0"/>
          </a:p>
        </p:txBody>
      </p:sp>
      <p:sp>
        <p:nvSpPr>
          <p:cNvPr id="12" name="Text 9"/>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13" name="Text 10"/>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20</a:t>
            </a:r>
            <a:endParaRPr lang="en-US" sz="800" dirty="0"/>
          </a:p>
        </p:txBody>
      </p:sp>
      <p:pic>
        <p:nvPicPr>
          <p:cNvPr id="14" name="Image 0" descr="preencoded.png">    </p:cNvPr>
          <p:cNvPicPr>
            <a:picLocks noChangeAspect="1"/>
          </p:cNvPicPr>
          <p:nvPr/>
        </p:nvPicPr>
        <p:blipFill>
          <a:blip r:embed="rId1"/>
          <a:stretch>
            <a:fillRect/>
          </a:stretch>
        </p:blipFill>
        <p:spPr>
          <a:xfrm>
            <a:off x="548640" y="1865376"/>
            <a:ext cx="3840480" cy="2160270"/>
          </a:xfrm>
          <a:prstGeom prst="rect">
            <a:avLst/>
          </a:prstGeom>
        </p:spPr>
      </p:pic>
      <p:pic>
        <p:nvPicPr>
          <p:cNvPr id="15" name="Image 1" descr="preencoded.png">    </p:cNvPr>
          <p:cNvPicPr>
            <a:picLocks noChangeAspect="1"/>
          </p:cNvPicPr>
          <p:nvPr/>
        </p:nvPicPr>
        <p:blipFill>
          <a:blip r:embed="rId2"/>
          <a:stretch>
            <a:fillRect/>
          </a:stretch>
        </p:blipFill>
        <p:spPr>
          <a:xfrm>
            <a:off x="4754880" y="1865376"/>
            <a:ext cx="3840480" cy="2160270"/>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Anhang: Zählerstand</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Backup für die Demo · berechnete Zählerstände und ESL-Ablesungen</a:t>
            </a:r>
            <a:endParaRPr lang="en-US" sz="1300" dirty="0"/>
          </a:p>
        </p:txBody>
      </p:sp>
      <p:sp>
        <p:nvSpPr>
          <p:cNvPr id="6" name="Shape 3"/>
          <p:cNvSpPr/>
          <p:nvPr/>
        </p:nvSpPr>
        <p:spPr>
          <a:xfrm>
            <a:off x="1750568" y="1426464"/>
            <a:ext cx="5642864" cy="3182112"/>
          </a:xfrm>
          <a:prstGeom prst="rect">
            <a:avLst/>
          </a:prstGeom>
          <a:solidFill>
            <a:srgbClr val="FFFFFF"/>
          </a:solidFill>
          <a:ln w="12700">
            <a:solidFill>
              <a:srgbClr val="E4E4E4"/>
            </a:solidFill>
            <a:prstDash val="solid"/>
          </a:ln>
        </p:spPr>
      </p:sp>
      <p:sp>
        <p:nvSpPr>
          <p:cNvPr id="7" name="Text 4"/>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8" name="Text 5"/>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21</a:t>
            </a:r>
            <a:endParaRPr lang="en-US" sz="800" dirty="0"/>
          </a:p>
        </p:txBody>
      </p:sp>
      <p:pic>
        <p:nvPicPr>
          <p:cNvPr id="9" name="Image 0" descr="preencoded.png">    </p:cNvPr>
          <p:cNvPicPr>
            <a:picLocks noChangeAspect="1"/>
          </p:cNvPicPr>
          <p:nvPr/>
        </p:nvPicPr>
        <p:blipFill>
          <a:blip r:embed="rId1"/>
          <a:stretch>
            <a:fillRect/>
          </a:stretch>
        </p:blipFill>
        <p:spPr>
          <a:xfrm>
            <a:off x="1759712" y="1435608"/>
            <a:ext cx="5624576" cy="3163824"/>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8046720" cy="603504"/>
          </a:xfrm>
          <a:prstGeom prst="rect">
            <a:avLst/>
          </a:prstGeom>
          <a:noFill/>
          <a:ln/>
        </p:spPr>
        <p:txBody>
          <a:bodyPr wrap="square" lIns="0" tIns="0" rIns="0" bIns="0" rtlCol="0" anchor="b"/>
          <a:lstStyle/>
          <a:p>
            <a:pPr indent="0" marL="0">
              <a:buNone/>
            </a:pPr>
            <a:r>
              <a:rPr lang="en-US" sz="2400" dirty="0">
                <a:solidFill>
                  <a:srgbClr val="13161A"/>
                </a:solidFill>
                <a:latin typeface="Segoe UI Semibold" pitchFamily="34" charset="0"/>
                <a:ea typeface="Segoe UI Semibold" pitchFamily="34" charset="-122"/>
                <a:cs typeface="Segoe UI Semibold" pitchFamily="34" charset="-120"/>
              </a:rPr>
              <a:t>Anhang: Export</a:t>
            </a:r>
            <a:endParaRPr lang="en-US" sz="2400" dirty="0"/>
          </a:p>
        </p:txBody>
      </p:sp>
      <p:sp>
        <p:nvSpPr>
          <p:cNvPr id="4" name="Shape 1"/>
          <p:cNvSpPr/>
          <p:nvPr/>
        </p:nvSpPr>
        <p:spPr>
          <a:xfrm>
            <a:off x="548640" y="978408"/>
            <a:ext cx="502920" cy="50292"/>
          </a:xfrm>
          <a:prstGeom prst="rect">
            <a:avLst/>
          </a:prstGeom>
          <a:solidFill>
            <a:srgbClr val="FDB51A"/>
          </a:solidFill>
          <a:ln w="12700">
            <a:solidFill>
              <a:srgbClr val="FDB51A"/>
            </a:solidFill>
            <a:prstDash val="solid"/>
          </a:ln>
        </p:spPr>
      </p:sp>
      <p:sp>
        <p:nvSpPr>
          <p:cNvPr id="5" name="Text 2"/>
          <p:cNvSpPr/>
          <p:nvPr/>
        </p:nvSpPr>
        <p:spPr>
          <a:xfrm>
            <a:off x="548640" y="1069848"/>
            <a:ext cx="8046720" cy="310896"/>
          </a:xfrm>
          <a:prstGeom prst="rect">
            <a:avLst/>
          </a:prstGeom>
          <a:noFill/>
          <a:ln/>
        </p:spPr>
        <p:txBody>
          <a:bodyPr wrap="square" lIns="0" tIns="0" rIns="0" bIns="0" rtlCol="0" anchor="ctr"/>
          <a:lstStyle/>
          <a:p>
            <a:pPr indent="0" marL="0">
              <a:buNone/>
            </a:pPr>
            <a:r>
              <a:rPr lang="en-US" sz="1300" dirty="0">
                <a:solidFill>
                  <a:srgbClr val="595959"/>
                </a:solidFill>
                <a:latin typeface="Segoe UI" pitchFamily="34" charset="0"/>
                <a:ea typeface="Segoe UI" pitchFamily="34" charset="-122"/>
                <a:cs typeface="Segoe UI" pitchFamily="34" charset="-120"/>
              </a:rPr>
              <a:t>Backup für die Demo · CSV pro Sensor, JSON oder HTTP-POST an einen Server</a:t>
            </a:r>
            <a:endParaRPr lang="en-US" sz="1300" dirty="0"/>
          </a:p>
        </p:txBody>
      </p:sp>
      <p:sp>
        <p:nvSpPr>
          <p:cNvPr id="6" name="Shape 3"/>
          <p:cNvSpPr/>
          <p:nvPr/>
        </p:nvSpPr>
        <p:spPr>
          <a:xfrm>
            <a:off x="1750568" y="1426464"/>
            <a:ext cx="5642864" cy="3182112"/>
          </a:xfrm>
          <a:prstGeom prst="rect">
            <a:avLst/>
          </a:prstGeom>
          <a:solidFill>
            <a:srgbClr val="FFFFFF"/>
          </a:solidFill>
          <a:ln w="12700">
            <a:solidFill>
              <a:srgbClr val="E4E4E4"/>
            </a:solidFill>
            <a:prstDash val="solid"/>
          </a:ln>
        </p:spPr>
      </p:sp>
      <p:sp>
        <p:nvSpPr>
          <p:cNvPr id="7" name="Text 4"/>
          <p:cNvSpPr/>
          <p:nvPr/>
        </p:nvSpPr>
        <p:spPr>
          <a:xfrm>
            <a:off x="548640" y="4754880"/>
            <a:ext cx="1554480" cy="219456"/>
          </a:xfrm>
          <a:prstGeom prst="rect">
            <a:avLst/>
          </a:prstGeom>
          <a:noFill/>
          <a:ln/>
        </p:spPr>
        <p:txBody>
          <a:bodyPr wrap="square" lIns="0" tIns="0" rIns="0" bIns="0" rtlCol="0" anchor="ctr"/>
          <a:lstStyle/>
          <a:p>
            <a:pPr indent="0" marL="0">
              <a:buNone/>
            </a:pPr>
            <a:r>
              <a:rPr lang="en-US" sz="800" dirty="0">
                <a:solidFill>
                  <a:srgbClr val="8A8A8A"/>
                </a:solidFill>
                <a:latin typeface="Segoe UI" pitchFamily="34" charset="0"/>
                <a:ea typeface="Segoe UI" pitchFamily="34" charset="-122"/>
                <a:cs typeface="Segoe UI" pitchFamily="34" charset="-120"/>
              </a:rPr>
              <a:t>Flux · M306 Gruppe 4</a:t>
            </a:r>
            <a:endParaRPr lang="en-US" sz="800" dirty="0"/>
          </a:p>
        </p:txBody>
      </p:sp>
      <p:sp>
        <p:nvSpPr>
          <p:cNvPr id="8" name="Text 5"/>
          <p:cNvSpPr/>
          <p:nvPr/>
        </p:nvSpPr>
        <p:spPr>
          <a:xfrm>
            <a:off x="8138160" y="4754880"/>
            <a:ext cx="457200" cy="219456"/>
          </a:xfrm>
          <a:prstGeom prst="rect">
            <a:avLst/>
          </a:prstGeom>
          <a:noFill/>
          <a:ln/>
        </p:spPr>
        <p:txBody>
          <a:bodyPr wrap="square" lIns="0" tIns="0" rIns="0" bIns="0" rtlCol="0" anchor="ctr"/>
          <a:lstStyle/>
          <a:p>
            <a:pPr algn="r" indent="0" marL="0">
              <a:buNone/>
            </a:pPr>
            <a:r>
              <a:rPr lang="en-US" sz="800" dirty="0">
                <a:solidFill>
                  <a:srgbClr val="8A8A8A"/>
                </a:solidFill>
                <a:latin typeface="Segoe UI" pitchFamily="34" charset="0"/>
                <a:ea typeface="Segoe UI" pitchFamily="34" charset="-122"/>
                <a:cs typeface="Segoe UI" pitchFamily="34" charset="-120"/>
              </a:rPr>
              <a:t>22</a:t>
            </a:r>
            <a:endParaRPr lang="en-US" sz="800" dirty="0"/>
          </a:p>
        </p:txBody>
      </p:sp>
      <p:pic>
        <p:nvPicPr>
          <p:cNvPr id="9" name="Image 0" descr="preencoded.png">    </p:cNvPr>
          <p:cNvPicPr>
            <a:picLocks noChangeAspect="1"/>
          </p:cNvPicPr>
          <p:nvPr/>
        </p:nvPicPr>
        <p:blipFill>
          <a:blip r:embed="rId1"/>
          <a:stretch>
            <a:fillRect/>
          </a:stretch>
        </p:blipFill>
        <p:spPr>
          <a:xfrm>
            <a:off x="1759712" y="1435608"/>
            <a:ext cx="5624576" cy="3163824"/>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KSH / IM24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 · Projektpräsentation M306 Gruppe 4</dc:title>
  <dc:subject>PptxGenJS Presentation</dc:subject>
  <dc:creator>M306 Gruppe 4</dc:creator>
  <cp:lastModifiedBy>M306 Gruppe 4</cp:lastModifiedBy>
  <cp:revision>1</cp:revision>
  <dcterms:created xsi:type="dcterms:W3CDTF">2026-10-01T09:50:13Z</dcterms:created>
  <dcterms:modified xsi:type="dcterms:W3CDTF">2026-10-01T09:50:13Z</dcterms:modified>
</cp:coreProperties>
</file>